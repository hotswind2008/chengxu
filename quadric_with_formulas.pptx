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26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1.png"/><Relationship Id="rId6" Type="http://schemas.openxmlformats.org/officeDocument/2006/relationships/image" Target="../media/image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3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41.png"/><Relationship Id="rId7" Type="http://schemas.openxmlformats.org/officeDocument/2006/relationships/image" Target="../media/image5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7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62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7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41.png"/><Relationship Id="rId7" Type="http://schemas.openxmlformats.org/officeDocument/2006/relationships/image" Target="../media/image5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41.png"/><Relationship Id="rId7" Type="http://schemas.openxmlformats.org/officeDocument/2006/relationships/image" Target="../media/image54.png"/><Relationship Id="rId8" Type="http://schemas.openxmlformats.org/officeDocument/2006/relationships/image" Target="../media/image8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7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83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8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83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41.png"/><Relationship Id="rId4" Type="http://schemas.openxmlformats.org/officeDocument/2006/relationships/image" Target="../media/image92.png"/><Relationship Id="rId5" Type="http://schemas.openxmlformats.org/officeDocument/2006/relationships/image" Target="../media/image89.png"/><Relationship Id="rId6" Type="http://schemas.openxmlformats.org/officeDocument/2006/relationships/image" Target="../media/image85.png"/><Relationship Id="rId7" Type="http://schemas.openxmlformats.org/officeDocument/2006/relationships/image" Target="../media/image9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92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92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92.png"/><Relationship Id="rId4" Type="http://schemas.openxmlformats.org/officeDocument/2006/relationships/image" Target="../media/image71.png"/><Relationship Id="rId5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titlepage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二次曲面的一般方程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在三维直角坐标系</a:t>
            </a:r>
          </a:p>
        </p:txBody>
      </p:sp>
      <p:pic>
        <p:nvPicPr>
          <p:cNvPr id="5" name="Picture 4" descr="4bf16061f8c120f8adc4ba78f4739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中,二次曲面的一般方程可以表示为:</a:t>
            </a:r>
          </a:p>
        </p:txBody>
      </p:sp>
      <p:pic>
        <p:nvPicPr>
          <p:cNvPr id="7" name="Picture 6" descr="e6de5d14123a3ad35a87d81c243f0a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573238"/>
          </a:xfrm>
          <a:prstGeom prst="rect">
            <a:avLst/>
          </a:prstGeom>
        </p:spPr>
      </p:pic>
      <p:pic>
        <p:nvPicPr>
          <p:cNvPr id="8" name="Picture 7" descr="40074ccd2ffff8cc7fa7472154b9a1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08527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83497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其中</a:t>
            </a:r>
          </a:p>
        </p:txBody>
      </p:sp>
      <p:pic>
        <p:nvPicPr>
          <p:cNvPr id="10" name="Picture 9" descr="8f0771caf71bb175461089a6d73066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40697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15667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不全为零。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二次曲面中心的定义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若点</a:t>
            </a:r>
          </a:p>
        </p:txBody>
      </p:sp>
      <p:pic>
        <p:nvPicPr>
          <p:cNvPr id="5" name="Picture 4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满足以下条件:任何穿过</a:t>
            </a:r>
          </a:p>
        </p:txBody>
      </p:sp>
      <p:pic>
        <p:nvPicPr>
          <p:cNvPr id="7" name="Picture 6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并与二次曲面相交于两点</a:t>
            </a:r>
          </a:p>
        </p:txBody>
      </p:sp>
      <p:pic>
        <p:nvPicPr>
          <p:cNvPr id="9" name="Picture 8" descr="47ddd0a8d1607438330cf19c0c1ac4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1" name="Picture 10" descr="2d145e3684093dda8dbfe869afa543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的直线(或在</a:t>
            </a:r>
          </a:p>
        </p:txBody>
      </p:sp>
      <p:pic>
        <p:nvPicPr>
          <p:cNvPr id="13" name="Picture 12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点与曲面相切),</a:t>
            </a:r>
          </a:p>
        </p:txBody>
      </p:sp>
      <p:pic>
        <p:nvPicPr>
          <p:cNvPr id="15" name="Picture 14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都是弦</a:t>
            </a:r>
          </a:p>
        </p:txBody>
      </p:sp>
      <p:pic>
        <p:nvPicPr>
          <p:cNvPr id="17" name="Picture 16" descr="0acf75775b20e3f8d94ad48f9461b9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982182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6967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(或切点</a:t>
            </a:r>
          </a:p>
        </p:txBody>
      </p:sp>
      <p:pic>
        <p:nvPicPr>
          <p:cNvPr id="19" name="Picture 18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15399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202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本身)的中点,则称</a:t>
            </a:r>
          </a:p>
        </p:txBody>
      </p:sp>
      <p:pic>
        <p:nvPicPr>
          <p:cNvPr id="21" name="Picture 20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2486160"/>
            <a:ext cx="2743200" cy="600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1336113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为二次曲面的中心。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381833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本节我们将详细推导中心坐标的方程。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推导中心坐标方程: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设二次曲面方程为</a:t>
            </a:r>
          </a:p>
        </p:txBody>
      </p:sp>
      <p:pic>
        <p:nvPicPr>
          <p:cNvPr id="6" name="Picture 5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,其具体表达式已在前文给出。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81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设中心点</a:t>
            </a:r>
          </a:p>
        </p:txBody>
      </p:sp>
      <p:pic>
        <p:nvPicPr>
          <p:cNvPr id="9" name="Picture 8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07536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的坐标为</a:t>
            </a:r>
          </a:p>
        </p:txBody>
      </p:sp>
      <p:pic>
        <p:nvPicPr>
          <p:cNvPr id="11" name="Picture 10" descr="c0c59d28f1d65fd5d5a11f47aae30e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540753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2825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考虑一条通过</a:t>
            </a:r>
          </a:p>
        </p:txBody>
      </p:sp>
      <p:pic>
        <p:nvPicPr>
          <p:cNvPr id="13" name="Picture 12" descr="13899aa46204b02713a8547021429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7397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7614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的直线,其方向向量为</a:t>
            </a:r>
          </a:p>
        </p:txBody>
      </p:sp>
      <p:pic>
        <p:nvPicPr>
          <p:cNvPr id="15" name="Picture 14" descr="8baa1e600049c6fafae648b584e42b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8071879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89468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(其中 X, Y, Z不全为零)。 该直线的参数方程为: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4040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将直线方程代入二次曲面方程</a:t>
            </a:r>
          </a:p>
        </p:txBody>
      </p:sp>
      <p:pic>
        <p:nvPicPr>
          <p:cNvPr id="18" name="Picture 17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861250"/>
            <a:ext cx="2743200" cy="600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107362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经整理后,会得到一个关于t的二次方程: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11934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tiny</a:t>
            </a:r>
          </a:p>
        </p:txBody>
      </p:sp>
      <p:pic>
        <p:nvPicPr>
          <p:cNvPr id="21" name="Picture 20" descr="11e039b0282c86420e537525deeb20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1650620"/>
            <a:ext cx="2743200" cy="428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中心坐标方程推导(二):方程各项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承接上一页,关于t的二次方程为:</a:t>
            </a:r>
          </a:p>
        </p:txBody>
      </p:sp>
      <p:pic>
        <p:nvPicPr>
          <p:cNvPr id="5" name="Picture 4" descr="c9b5a0c7e7628c909437048930a9e5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26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其中,</a:t>
            </a:r>
          </a:p>
        </p:txBody>
      </p:sp>
      <p:pic>
        <p:nvPicPr>
          <p:cNvPr id="7" name="Picture 6" descr="d23369eee20e6366e66a9d986d8cb3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465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43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</a:t>
            </a:r>
          </a:p>
        </p:txBody>
      </p:sp>
      <p:pic>
        <p:nvPicPr>
          <p:cNvPr id="9" name="Picture 8" descr="52e143df5c9c135a654a926838d1ad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2635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760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中</a:t>
            </a:r>
          </a:p>
        </p:txBody>
      </p:sp>
      <p:pic>
        <p:nvPicPr>
          <p:cNvPr id="11" name="Picture 10" descr="71b1312b307f921ddcf64f61e8da16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4805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699775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的系数:</a:t>
            </a:r>
          </a:p>
        </p:txBody>
      </p:sp>
      <p:pic>
        <p:nvPicPr>
          <p:cNvPr id="13" name="Picture 12" descr="50d9cef1005822a91febe9526aca61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6975"/>
            <a:ext cx="2743200" cy="550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中心坐标方程推导(二):方程各项</a:t>
            </a:r>
          </a:p>
        </p:txBody>
      </p:sp>
      <p:pic>
        <p:nvPicPr>
          <p:cNvPr id="4" name="Picture 3" descr="0315acb418a41e807abbaf0da71c2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743200" cy="600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465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</a:t>
            </a:r>
          </a:p>
        </p:txBody>
      </p:sp>
      <p:pic>
        <p:nvPicPr>
          <p:cNvPr id="6" name="Picture 5" descr="05f2f1f6344d4bdb8370c1ab38b04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03769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5787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关于</a:t>
            </a:r>
          </a:p>
        </p:txBody>
      </p:sp>
      <p:pic>
        <p:nvPicPr>
          <p:cNvPr id="8" name="Picture 7" descr="78b70da0fb6369f45abaccaaef4cab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3593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109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的偏导数(此处在</a:t>
            </a:r>
          </a:p>
        </p:txBody>
      </p:sp>
      <p:pic>
        <p:nvPicPr>
          <p:cNvPr id="10" name="Picture 9" descr="13899aa46204b02713a85470214295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点取值):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frac{1}{2}F_{1}(x,y,z) equiv frac{1}{2} frac{ partial F}{ partial x} &amp;= a_{11}x+a_{12}y+a_{13}z+a_{14}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frac{1}{2}F_{2}(x,y,z) equiv frac{1}{2} frac{ partial F}{ partial y} &amp;= a_{12}x+a_{22}y+a_{23}z+a_{24}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frac{1}{2}F_{3}(x,y,z) equiv frac{1}{2} frac{ partial F}{ partial z} &amp;= a_{13}x+a_{23}y+a_{33}z+a_{34}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0718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(为方便后续书写,有时用</a:t>
            </a:r>
          </a:p>
        </p:txBody>
      </p:sp>
      <p:pic>
        <p:nvPicPr>
          <p:cNvPr id="14" name="Picture 13" descr="c3e26d09f9175f2a867696c91ce7a3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5290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94040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表示方程组的左侧部分)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</a:t>
            </a:r>
          </a:p>
        </p:txBody>
      </p:sp>
      <p:pic>
        <p:nvPicPr>
          <p:cNvPr id="5" name="Picture 4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处):</a:t>
            </a:r>
          </a:p>
        </p:txBody>
      </p:sp>
      <p:pic>
        <p:nvPicPr>
          <p:cNvPr id="7" name="Picture 6" descr="30e4250939d146ebf7c04288c3a94c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(为简洁,</a:t>
            </a:r>
          </a:p>
        </p:txBody>
      </p:sp>
      <p:pic>
        <p:nvPicPr>
          <p:cNvPr id="9" name="Picture 8" descr="53b9f77b00655b7770e3fd03b49abf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1" name="Picture 10" descr="b6ad1b0e4cb56220d405017e8d6d86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</a:t>
            </a:r>
          </a:p>
        </p:txBody>
      </p:sp>
      <p:pic>
        <p:nvPicPr>
          <p:cNvPr id="13" name="Picture 12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是中心,则它是交点弦的中点。 这意味着对应于交点的值t1, t2 满足</a:t>
            </a:r>
          </a:p>
        </p:txBody>
      </p:sp>
      <p:pic>
        <p:nvPicPr>
          <p:cNvPr id="15" name="Picture 14" descr="93a52ed4411cd5277376a7542299db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(除非</a:t>
            </a:r>
          </a:p>
        </p:txBody>
      </p:sp>
      <p:pic>
        <p:nvPicPr>
          <p:cNvPr id="17" name="Picture 16" descr="13899aa46204b02713a854702142955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982182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6967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是切点,</a:t>
            </a:r>
          </a:p>
        </p:txBody>
      </p:sp>
      <p:pic>
        <p:nvPicPr>
          <p:cNvPr id="19" name="Picture 18" descr="efe3ddf138aaaf1b46099459c34c8f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115399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202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</a:t>
            </a:r>
          </a:p>
        </p:txBody>
      </p:sp>
      <p:pic>
        <p:nvPicPr>
          <p:cNvPr id="5" name="Picture 4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处):</a:t>
            </a:r>
          </a:p>
        </p:txBody>
      </p:sp>
      <p:pic>
        <p:nvPicPr>
          <p:cNvPr id="7" name="Picture 6" descr="30e4250939d146ebf7c04288c3a94c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</a:t>
            </a:r>
          </a:p>
        </p:txBody>
      </p:sp>
      <p:pic>
        <p:nvPicPr>
          <p:cNvPr id="9" name="Picture 8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是中心,则它是交点弦的中点。 这意味着对应于交点的值t1, t2 满足</a:t>
            </a:r>
          </a:p>
        </p:txBody>
      </p:sp>
      <p:pic>
        <p:nvPicPr>
          <p:cNvPr id="11" name="Picture 10" descr="93a52ed4411cd5277376a7542299db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(除非</a:t>
            </a:r>
          </a:p>
        </p:txBody>
      </p:sp>
      <p:pic>
        <p:nvPicPr>
          <p:cNvPr id="13" name="Picture 12" descr="13899aa46204b02713a85470214295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是切点,</a:t>
            </a:r>
          </a:p>
        </p:txBody>
      </p:sp>
      <p:pic>
        <p:nvPicPr>
          <p:cNvPr id="15" name="Picture 14" descr="efe3ddf138aaaf1b46099459c34c8f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8218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根据韦达定理,根的和为</a:t>
            </a:r>
          </a:p>
        </p:txBody>
      </p:sp>
      <p:pic>
        <p:nvPicPr>
          <p:cNvPr id="18" name="Picture 17" descr="f57220995715ffdf3ef887bf59848e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1027902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回顾t的二次方程(在</a:t>
            </a:r>
          </a:p>
        </p:txBody>
      </p:sp>
      <p:pic>
        <p:nvPicPr>
          <p:cNvPr id="5" name="Picture 4" descr="f8e4989404938e27e6bd5f82d18d5a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处):</a:t>
            </a:r>
          </a:p>
        </p:txBody>
      </p:sp>
      <p:pic>
        <p:nvPicPr>
          <p:cNvPr id="7" name="Picture 6" descr="30e4250939d146ebf7c04288c3a94c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根据韦达定理,根的和为</a:t>
            </a:r>
          </a:p>
        </p:txBody>
      </p:sp>
      <p:pic>
        <p:nvPicPr>
          <p:cNvPr id="9" name="Picture 8" descr="f57220995715ffdf3ef887bf59848e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因此,要使</a:t>
            </a:r>
          </a:p>
        </p:txBody>
      </p:sp>
      <p:pic>
        <p:nvPicPr>
          <p:cNvPr id="11" name="Picture 10" descr="93a52ed4411cd5277376a7542299db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(假设</a:t>
            </a:r>
          </a:p>
        </p:txBody>
      </p:sp>
      <p:pic>
        <p:nvPicPr>
          <p:cNvPr id="13" name="Picture 12" descr="e7cfdfc64f110fd1cc4a00dde7e83d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即直线不与曲面在此方向上具有渐进性质),t的一次项系数必须为零:</a:t>
            </a:r>
          </a:p>
        </p:txBody>
      </p:sp>
      <p:pic>
        <p:nvPicPr>
          <p:cNvPr id="15" name="Picture 14" descr="724dcf1f5992bea4a512d041d47036d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中心坐标方程推导(三):中心条件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要使</a:t>
            </a:r>
          </a:p>
        </p:txBody>
      </p:sp>
      <p:pic>
        <p:nvPicPr>
          <p:cNvPr id="5" name="Picture 4" descr="93a52ed4411cd5277376a7542299db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 t的一次项系数必须为零:</a:t>
            </a:r>
          </a:p>
        </p:txBody>
      </p:sp>
      <p:pic>
        <p:nvPicPr>
          <p:cNvPr id="7" name="Picture 6" descr="724dcf1f5992bea4a512d041d47036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由于此式对任意方向向量</a:t>
            </a:r>
          </a:p>
        </p:txBody>
      </p:sp>
      <p:pic>
        <p:nvPicPr>
          <p:cNvPr id="9" name="Picture 8" descr="ba4426fd467b498d040a2fff8d71ab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均成立,所以X, Y, Z的系数必须同时为零: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条件</a:t>
            </a:r>
          </a:p>
        </p:txBody>
      </p:sp>
      <p:pic>
        <p:nvPicPr>
          <p:cNvPr id="5" name="Picture 4" descr="e5b735022dd1011dc03ba81304cf24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F2(xo, yo, zo) = 0,</a:t>
            </a:r>
          </a:p>
        </p:txBody>
      </p:sp>
      <p:pic>
        <p:nvPicPr>
          <p:cNvPr id="7" name="Picture 6" descr="c677b9159a165d15531e4b9db10384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展开即为: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2a_{11}x_{0}+2a_{12}y_{0}+2a_{13}z_{0}+2a_{14} &amp;=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2a_{12}x_{0}+2a_{22}y_{0}+2a_{23}z_{0}+2a_{24} &amp;= 0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2a_{13}x_{0}+2a_{23}y_{0}+2a_{33}z_{0}+2a_{34} &amp;=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中心坐标方程组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这个线性方程组确定了二次曲面的中心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通常写为更简洁的形式: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a_{11}x_{0}+a_{12}y_{0}+a_{13}z_{0}=-a_{14}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a_{12}x_{0}+a_{22}y_{0}+a_{23}z_{0}=-a_{24}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a_{13}x_{0}+a_{23}y_{0}+a_{33}z_{0}=-a_{34}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中心的分类:方程组回顾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中心坐标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由以下线性方程组确定: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a_{11}x_{0}+a_{12}y_{0}+a_{13}z_{0}=-a_{14}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a_{12}x_{0}+a_{22}y_{0}+a_{23}z_{0}=-a_{24}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a_{13}x_{0}+a_{23}y_{0}+a_{33}z_{0}=-a_{34}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3257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977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E_{0}=\begin{pmatrix}a_{11}&amp;a_{12}&amp;a_{13}\\ a_{12}&amp;a_{22}&amp;a_{23}\\ a_{13}&amp;a_{23}&amp;a_{33}\end{pmatrix}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212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为系数矩阵, 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849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k=\begin{pmatrix}-a_{14}\\ -a_{24}\\ -a_{34}\end{pmatrix}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9100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为常数项列向量。 方程组为</a:t>
            </a:r>
          </a:p>
        </p:txBody>
      </p:sp>
      <p:pic>
        <p:nvPicPr>
          <p:cNvPr id="13" name="Picture 12" descr="cd985fabafb706b1c4c605e6c435d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73672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2421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解的情况取决于行列式</a:t>
            </a:r>
          </a:p>
        </p:txBody>
      </p:sp>
      <p:pic>
        <p:nvPicPr>
          <p:cNvPr id="15" name="Picture 14" descr="9ba646faed1d7ae583ad7770a91893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869938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5743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以及增广矩阵</a:t>
            </a:r>
          </a:p>
        </p:txBody>
      </p:sp>
      <p:pic>
        <p:nvPicPr>
          <p:cNvPr id="17" name="Picture 16" descr="2b9321a8f6c60b965cae1f7f9c7fcc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003155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906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中心的分类:有唯一中心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情况1:有唯一中心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当系数矩阵的行列式</a:t>
            </a:r>
          </a:p>
        </p:txBody>
      </p:sp>
      <p:pic>
        <p:nvPicPr>
          <p:cNvPr id="6" name="Picture 5" descr="b2f41f43bf26d34ca28e88a87b297e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时,方程组有唯一解</a:t>
            </a:r>
          </a:p>
        </p:txBody>
      </p:sp>
      <p:pic>
        <p:nvPicPr>
          <p:cNvPr id="8" name="Picture 7" descr="c0c59d28f1d65fd5d5a11f47aae30e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这种曲面称为有心二次曲面。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例如:椭球面、双曲面。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caption{如:椭球面}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中心的分类:有无穷多中心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 2:有无穷多中心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当</a:t>
            </a:r>
          </a:p>
        </p:txBody>
      </p:sp>
      <p:pic>
        <p:nvPicPr>
          <p:cNvPr id="6" name="Picture 5" descr="b75ac7882c343533c323cb4879c76c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且方程组相容(即</a:t>
            </a:r>
          </a:p>
        </p:txBody>
      </p:sp>
      <p:pic>
        <p:nvPicPr>
          <p:cNvPr id="8" name="Picture 7" descr="7d7c8309ff54b6dddae49c2074bfee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时,方程组有无穷多解。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这些解构成一条直线(若秩为2,中心线)或一个平面(若秩为1,中心面)。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例如:椭圆柱面(中心线),两个平行平面(中心面)。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caption{如:椭圆柱面}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中心的分类:无中心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情况3:无中心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当</a:t>
            </a:r>
          </a:p>
        </p:txBody>
      </p:sp>
      <p:pic>
        <p:nvPicPr>
          <p:cNvPr id="6" name="Picture 5" descr="b75ac7882c343533c323cb4879c76c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且方程组不相容(即</a:t>
            </a:r>
          </a:p>
        </p:txBody>
      </p:sp>
      <p:pic>
        <p:nvPicPr>
          <p:cNvPr id="8" name="Picture 7" descr="23946f5cecfc35fd2d5300e6612e81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时,方程组无解。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这种曲面称为无心二次曲面。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例如:抛物面、抛物柱面。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caption{如:抛物面}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二次曲面径面的定义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径面是与二次曲面的一组平行弦的几何轨迹相关联的平面。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具体来说,共轭于给定方向的平面:它平行地切过所有平行于该方向的弦的中点。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径面也是曲面的一个对称面(当弦方向为特定方向时)。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caption{弦方向d, 径面(中点轨迹)}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</a:t>
            </a:r>
          </a:p>
        </p:txBody>
      </p:sp>
      <p:pic>
        <p:nvPicPr>
          <p:cNvPr id="5" name="Picture 4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</a:t>
            </a:r>
          </a:p>
        </p:txBody>
      </p:sp>
      <p:pic>
        <p:nvPicPr>
          <p:cNvPr id="5" name="Picture 4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设有一族平行弦,其共同方向向量为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(其中X, Y, Z不全为零)。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考虑二次曲面</a:t>
            </a:r>
          </a:p>
        </p:txBody>
      </p:sp>
      <p:pic>
        <p:nvPicPr>
          <p:cNvPr id="5" name="Picture 4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设有一族平行弦,其共同方向向量为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(其中X, Y, Z不全为零)。 设这些弦中某一条弦的中点为</a:t>
            </a:r>
          </a:p>
        </p:txBody>
      </p:sp>
      <p:pic>
        <p:nvPicPr>
          <p:cNvPr id="9" name="Picture 8" descr="f24a1d3863c5d6183c37bc30b23bd7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这条弦上的点(x, y, z)的参数方程为: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径面的方程推导(一):直线与曲面交点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将此直线方程代入二次曲面方程</a:t>
            </a:r>
          </a:p>
        </p:txBody>
      </p:sp>
      <p:pic>
        <p:nvPicPr>
          <p:cNvPr id="5" name="Picture 4" descr="0a2c525d5b24f8c9df36d81bb90ba9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,得到一个关于t的二次方程(与中心推导时类似):</a:t>
            </a:r>
          </a:p>
        </p:txBody>
      </p:sp>
      <p:pic>
        <p:nvPicPr>
          <p:cNvPr id="7" name="Picture 6" descr="6553085eb9485958694aec05957918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(简写</a:t>
            </a:r>
          </a:p>
        </p:txBody>
      </p:sp>
      <p:pic>
        <p:nvPicPr>
          <p:cNvPr id="9" name="Picture 8" descr="de3b9ddedf9efefd96e66424de13e8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and</a:t>
            </a:r>
          </a:p>
        </p:txBody>
      </p:sp>
      <p:pic>
        <p:nvPicPr>
          <p:cNvPr id="11" name="Picture 10" descr="fda83e5f02a05957b2a9cf3f5f3774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上一页得到的t的二次方程为:</a:t>
            </a:r>
          </a:p>
        </p:txBody>
      </p:sp>
      <p:pic>
        <p:nvPicPr>
          <p:cNvPr id="5" name="Picture 4" descr="6553085eb9485958694aec05957918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上一页得到的t的二次方程为:</a:t>
            </a:r>
          </a:p>
        </p:txBody>
      </p:sp>
      <p:pic>
        <p:nvPicPr>
          <p:cNvPr id="5" name="Picture 4" descr="6553085eb9485958694aec05957918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</a:t>
            </a:r>
          </a:p>
        </p:txBody>
      </p:sp>
      <p:pic>
        <p:nvPicPr>
          <p:cNvPr id="7" name="Picture 6" descr="f24a1d3863c5d6183c37bc30b23bd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是弦的两个交点</a:t>
            </a:r>
          </a:p>
        </p:txBody>
      </p:sp>
      <p:pic>
        <p:nvPicPr>
          <p:cNvPr id="9" name="Picture 8" descr="dd37ca4db7ba2d76dd1ba3ae3a3dc5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(对应参数</a:t>
            </a:r>
          </a:p>
        </p:txBody>
      </p:sp>
      <p:pic>
        <p:nvPicPr>
          <p:cNvPr id="11" name="Picture 10" descr="19cca69861040e37714a23e668ef79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的中点,则</a:t>
            </a:r>
          </a:p>
        </p:txBody>
      </p:sp>
      <p:pic>
        <p:nvPicPr>
          <p:cNvPr id="13" name="Picture 12" descr="93a52ed4411cd5277376a7542299db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</a:t>
            </a:r>
          </a:p>
        </p:txBody>
      </p:sp>
      <p:pic>
        <p:nvPicPr>
          <p:cNvPr id="5" name="Picture 4" descr="f24a1d3863c5d6183c37bc30b23bd7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是弦的两个交点</a:t>
            </a:r>
          </a:p>
        </p:txBody>
      </p:sp>
      <p:pic>
        <p:nvPicPr>
          <p:cNvPr id="7" name="Picture 6" descr="dd37ca4db7ba2d76dd1ba3ae3a3dc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(对应参数</a:t>
            </a:r>
          </a:p>
        </p:txBody>
      </p:sp>
      <p:pic>
        <p:nvPicPr>
          <p:cNvPr id="9" name="Picture 8" descr="19cca69861040e37714a23e668ef79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的中点,则</a:t>
            </a:r>
          </a:p>
        </p:txBody>
      </p:sp>
      <p:pic>
        <p:nvPicPr>
          <p:cNvPr id="11" name="Picture 10" descr="93a52ed4411cd5277376a7542299db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根据韦达定理,这意味着t的一次项系数必须为零(假设</a:t>
            </a:r>
          </a:p>
        </p:txBody>
      </p:sp>
      <p:pic>
        <p:nvPicPr>
          <p:cNvPr id="14" name="Picture 13" descr="5f25464a437f77975b9b7de7b77fb7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pic>
        <p:nvPicPr>
          <p:cNvPr id="16" name="Picture 15" descr="d822ff299f3b56701543fabd2dc2e7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径面的方程推导(二):中点条件</a:t>
            </a:r>
          </a:p>
        </p:txBody>
      </p:sp>
      <p:pic>
        <p:nvPicPr>
          <p:cNvPr id="4" name="Picture 3" descr="d822ff299f3b56701543fabd2dc2e7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743200" cy="600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465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这里</a:t>
            </a:r>
          </a:p>
        </p:txBody>
      </p:sp>
      <p:pic>
        <p:nvPicPr>
          <p:cNvPr id="6" name="Picture 5" descr="0315acb418a41e807abbaf0da71c22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03769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5787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</a:t>
            </a:r>
          </a:p>
        </p:txBody>
      </p:sp>
      <p:pic>
        <p:nvPicPr>
          <p:cNvPr id="8" name="Picture 7" descr="05f2f1f6344d4bdb8370c1ab38b042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3593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109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</a:t>
            </a:r>
          </a:p>
        </p:txBody>
      </p:sp>
      <p:pic>
        <p:nvPicPr>
          <p:cNvPr id="10" name="Picture 9" descr="78b70da0fb6369f45abaccaaef4cab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在点 M处的偏导数。 这个方程是所有平行于方向</a:t>
            </a:r>
          </a:p>
        </p:txBody>
      </p:sp>
      <p:pic>
        <p:nvPicPr>
          <p:cNvPr id="12" name="Picture 11" descr="af7ede57782869fa1ebe2d047824d9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670027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5752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的弦的中点</a:t>
            </a:r>
          </a:p>
        </p:txBody>
      </p:sp>
      <p:pic>
        <p:nvPicPr>
          <p:cNvPr id="14" name="Picture 13" descr="f24a1d3863c5d6183c37bc30b23bd7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03244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9074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必须满足的条件。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所有平行于方向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的弦的中点</a:t>
            </a:r>
          </a:p>
        </p:txBody>
      </p:sp>
      <p:pic>
        <p:nvPicPr>
          <p:cNvPr id="7" name="Picture 6" descr="8445f994fb8c8d7ae30b90950bf921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满足:</a:t>
            </a:r>
          </a:p>
        </p:txBody>
      </p:sp>
      <p:pic>
        <p:nvPicPr>
          <p:cNvPr id="9" name="Picture 8" descr="d822ff299f3b56701543fabd2dc2e7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所有平行于方向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的弦的中点</a:t>
            </a:r>
          </a:p>
        </p:txBody>
      </p:sp>
      <p:pic>
        <p:nvPicPr>
          <p:cNvPr id="7" name="Picture 6" descr="8445f994fb8c8d7ae30b90950bf921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满足:</a:t>
            </a:r>
          </a:p>
        </p:txBody>
      </p:sp>
      <p:pic>
        <p:nvPicPr>
          <p:cNvPr id="9" name="Picture 8" descr="d822ff299f3b56701543fabd2dc2e7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将</a:t>
            </a:r>
          </a:p>
        </p:txBody>
      </p:sp>
      <p:pic>
        <p:nvPicPr>
          <p:cNvPr id="11" name="Picture 10" descr="8445f994fb8c8d7ae30b90950bf921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替换为径面上任意点的通用坐标</a:t>
            </a:r>
          </a:p>
        </p:txBody>
      </p:sp>
      <p:pic>
        <p:nvPicPr>
          <p:cNvPr id="13" name="Picture 12" descr="4bf16061f8c120f8adc4ba78f47396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,并代入偏导数表达式:</a:t>
            </a:r>
          </a:p>
        </p:txBody>
      </p:sp>
      <p:pic>
        <p:nvPicPr>
          <p:cNvPr id="15" name="Picture 14" descr="cfbf03dcc9f9ecd05725ef24143dc5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 etc.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得到径面方程: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X(2a_{11}x+2a_{12}y+2a_{13}z+2a_{14})&amp;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+Y(2a_{12}x+2a_{22}y+2a_{23}z+2a_{24})&amp;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+Z(2a_{13}x+2a_{23}y+2a_{33}z+2a_{34})&amp;=0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X(2a_{11}x+2a_{12}y+2a_{13}z+2a_{14})&amp;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+Y(2a_{12}x+2a_{22}y+2a_{23}z+2a_{24})&amp;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+Z(2a_{13}x+2a_{23}y+2a_{33}z+2a_{34})&amp;=0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这是一个关于</a:t>
            </a:r>
          </a:p>
        </p:txBody>
      </p:sp>
      <p:pic>
        <p:nvPicPr>
          <p:cNvPr id="6" name="Picture 5" descr="78b70da0fb6369f45abaccaaef4cab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657600"/>
            <a:ext cx="2743200" cy="600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3257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的线性方程,因此代表一个平面。 此平面称为与方向</a:t>
            </a:r>
          </a:p>
        </p:txBody>
      </p:sp>
      <p:pic>
        <p:nvPicPr>
          <p:cNvPr id="8" name="Picture 7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989770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8647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共轭的径面。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与中心的关系:如果二次曲面有中心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,则该中心满足</a:t>
            </a:r>
          </a:p>
        </p:txBody>
      </p:sp>
      <p:pic>
        <p:nvPicPr>
          <p:cNvPr id="7" name="Picture 6" descr="2d9bdcf8d138a87e07ce0f21019ea4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9" name="Picture 8" descr="87490c0e691e8d2cb96233f1f6c8f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pic>
        <p:nvPicPr>
          <p:cNvPr id="10" name="Picture 9" descr="c677b9159a165d15531e4b9db10384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将</a:t>
            </a:r>
          </a:p>
        </p:txBody>
      </p:sp>
      <p:pic>
        <p:nvPicPr>
          <p:cNvPr id="12" name="Picture 11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70027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5752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代入径面方程</a:t>
            </a:r>
          </a:p>
        </p:txBody>
      </p:sp>
      <p:pic>
        <p:nvPicPr>
          <p:cNvPr id="14" name="Picture 13" descr="2906b531fbc71f90a9d3426ec803de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03244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9074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,得到</a:t>
            </a:r>
          </a:p>
        </p:txBody>
      </p:sp>
      <p:pic>
        <p:nvPicPr>
          <p:cNvPr id="16" name="Picture 15" descr="ee9fd7f419077ae0d480500b3ef133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9364620"/>
            <a:ext cx="2743200" cy="600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02395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 即</a:t>
            </a:r>
          </a:p>
        </p:txBody>
      </p:sp>
      <p:pic>
        <p:nvPicPr>
          <p:cNvPr id="18" name="Picture 17" descr="7bb9d941d22396f1ddf635a5cc656c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696790"/>
            <a:ext cx="2743200" cy="600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11571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径面的性质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与中心的关系: ... 因此,所有有心二次曲面的径面都通过其中心。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主径面:当弦的方向d垂直于径面时,该径面称为主径面。 主径面是二次曲面的对称平面。 弦的方向d此时是曲面的一个主方向(主轴方向)。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t>•  非中心二次曲面的径面:对于抛物面等无中心的二次曲面,其径面仍然存在。 例如,抛物面的所有径面都平行于其轴。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caption{径面, 中心}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实例:椭球面(1)- 方程与中心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考虑椭球面方程:</a:t>
            </a:r>
          </a:p>
        </p:txBody>
      </p:sp>
      <p:pic>
        <p:nvPicPr>
          <p:cNvPr id="5" name="Picture 4" descr="5b7ca30235a49b613b5f4d922bfc6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一般方程形式:</a:t>
            </a:r>
          </a:p>
        </p:txBody>
      </p:sp>
      <p:pic>
        <p:nvPicPr>
          <p:cNvPr id="7" name="Picture 6" descr="a746c6fd92a92c73be0351e90a713a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对应系数:</a:t>
            </a:r>
          </a:p>
        </p:txBody>
      </p:sp>
      <p:pic>
        <p:nvPicPr>
          <p:cNvPr id="9" name="Picture 8" descr="76128eb00fa7a5546885d8b5275e0e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1" name="Picture 10" descr="7051da61cd23ba10b32344340a867e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3" name="Picture 12" descr="5b789dab7e3480c8092e61e85f5a67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交叉项系数</a:t>
            </a:r>
          </a:p>
        </p:txBody>
      </p:sp>
      <p:pic>
        <p:nvPicPr>
          <p:cNvPr id="15" name="Picture 14" descr="a8a9c84a0972b3636b1f80c860b5bbb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线性项系数</a:t>
            </a:r>
          </a:p>
        </p:txBody>
      </p:sp>
      <p:pic>
        <p:nvPicPr>
          <p:cNvPr id="17" name="Picture 16" descr="7c7bbca8f0fe9247337e8d23df317b4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982182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6967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常数项</a:t>
            </a:r>
          </a:p>
        </p:txBody>
      </p:sp>
      <p:pic>
        <p:nvPicPr>
          <p:cNvPr id="19" name="Picture 18" descr="490a5e17fb676d320dc57d1fa4e7179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1115399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202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2486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求解中心</a:t>
            </a:r>
          </a:p>
        </p:txBody>
      </p:sp>
      <p:pic>
        <p:nvPicPr>
          <p:cNvPr id="22" name="Picture 21" descr="c0c59d28f1d65fd5d5a11f47aae30ea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12943360"/>
            <a:ext cx="2743200" cy="600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1381833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实例:椭球面(1)- 方程与中心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求解中心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因此,中心为</a:t>
            </a:r>
          </a:p>
        </p:txBody>
      </p:sp>
      <p:pic>
        <p:nvPicPr>
          <p:cNvPr id="8" name="Picture 7" descr="d913b3d5fe99f32234a2e2b301b106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(原点)。 椭球面是有心二次曲面。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实例:椭球面(2) - 径面与图示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对于椭球面</a:t>
            </a:r>
          </a:p>
        </p:txBody>
      </p:sp>
      <p:pic>
        <p:nvPicPr>
          <p:cNvPr id="5" name="Picture 4" descr="a326906802dc7f850baabf4f4363ec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偏导数:</a:t>
            </a:r>
          </a:p>
        </p:txBody>
      </p:sp>
      <p:pic>
        <p:nvPicPr>
          <p:cNvPr id="8" name="Picture 7" descr="5e5bd94d0072166d9c5e47cf0632e6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pic>
        <p:nvPicPr>
          <p:cNvPr id="9" name="Picture 8" descr="e50d623c625f51836f47d3e678f9f1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3681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1" name="Picture 10" descr="e145b20c85f2ae4d7e166f301ba1c3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82530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径面方程:对于弦方向</a:t>
            </a:r>
          </a:p>
        </p:txBody>
      </p:sp>
      <p:pic>
        <p:nvPicPr>
          <p:cNvPr id="13" name="Picture 12" descr="af7ede57782869fa1ebe2d047824d9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,径面方程</a:t>
            </a:r>
          </a:p>
        </p:txBody>
      </p:sp>
      <p:pic>
        <p:nvPicPr>
          <p:cNvPr id="15" name="Picture 14" descr="2906b531fbc71f90a9d3426ec803de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为: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8218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X frac{2x}{a^{2}}+Y frac{2y}{b^{2}}+Z frac{2z}{c^{2}}=0⇒ frac{Xx}{a^{2}}+ frac{Yy}{b^{2}}+ frac{Zz}{c^{2}}=0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02790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这个平面通过椭球面的中心(0,0,0),符合预期。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实例:椭球面(2) - 径面与图示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对于弦方向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,径面方程为: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frac{Xx}{a^{2}}+ frac{Yy}{b^{2}}+ frac{Zz}{c^{2}}=0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81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这个平面通过椭球面的中心(0,0,0),符合预期。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753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caption{径面(例:</a:t>
            </a:r>
          </a:p>
        </p:txBody>
      </p:sp>
      <p:pic>
        <p:nvPicPr>
          <p:cNvPr id="10" name="Picture 9" descr="e11729b0b65ecade3fc272548a3883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32570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4075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for d=(1,0,0)), 中心(0,0,0)}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实例:抛物面(1)- 方程与中心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考虑抛物面方程:</a:t>
            </a:r>
          </a:p>
        </p:txBody>
      </p:sp>
      <p:pic>
        <p:nvPicPr>
          <p:cNvPr id="5" name="Picture 4" descr="1adcc7c88e7492b6c6aa066fe8125b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(旋转抛物面)。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一般方程形式:</a:t>
            </a:r>
          </a:p>
        </p:txBody>
      </p:sp>
      <p:pic>
        <p:nvPicPr>
          <p:cNvPr id="8" name="Picture 7" descr="e731077e9f5ab4151180f6184e7fcb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对应系数: a11 = 1, a22 = 1,</a:t>
            </a:r>
          </a:p>
        </p:txBody>
      </p:sp>
      <p:pic>
        <p:nvPicPr>
          <p:cNvPr id="10" name="Picture 9" descr="4c203858be8057b2a3b069059c922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 交叉项</a:t>
            </a:r>
          </a:p>
        </p:txBody>
      </p:sp>
      <p:pic>
        <p:nvPicPr>
          <p:cNvPr id="12" name="Picture 11" descr="a8a9c84a0972b3636b1f80c860b5bbb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  <p:pic>
        <p:nvPicPr>
          <p:cNvPr id="14" name="Picture 13" descr="01b0173fbd5ca712e77569c84873bd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  <p:pic>
        <p:nvPicPr>
          <p:cNvPr id="16" name="Picture 15" descr="0b78314c212856f99fd69769905392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98218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02790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求解中心</a:t>
            </a:r>
          </a:p>
        </p:txBody>
      </p:sp>
      <p:pic>
        <p:nvPicPr>
          <p:cNvPr id="19" name="Picture 18" descr="c0c59d28f1d65fd5d5a11f47aae30e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73622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16111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实例:抛物面(1)- 方程与中心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求解中心</a:t>
            </a:r>
          </a:p>
        </p:txBody>
      </p:sp>
      <p:pic>
        <p:nvPicPr>
          <p:cNvPr id="5" name="Picture 4" descr="c0c59d28f1d65fd5d5a11f47aae30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第三个方程</a:t>
            </a:r>
          </a:p>
        </p:txBody>
      </p:sp>
      <p:pic>
        <p:nvPicPr>
          <p:cNvPr id="8" name="Picture 7" descr="44c9dcd72ecfc4a39fd77f9cab662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是矛盾的。 因此,方程组无解,抛物面是无心二次曲面。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</a:t>
            </a:r>
          </a:p>
        </p:txBody>
      </p:sp>
      <p:pic>
        <p:nvPicPr>
          <p:cNvPr id="5" name="Picture 4" descr="e731077e9f5ab4151180f6184e7fcb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偏导数:</a:t>
            </a:r>
          </a:p>
        </p:txBody>
      </p:sp>
      <p:pic>
        <p:nvPicPr>
          <p:cNvPr id="8" name="Picture 7" descr="04cff58889f7caa5e3fbe4d7affa30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pic>
        <p:nvPicPr>
          <p:cNvPr id="9" name="Picture 8" descr="fb49f1a619d84255142453952ad407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pic>
        <p:nvPicPr>
          <p:cNvPr id="10" name="Picture 9" descr="293ff65d555e37c8969f90a4137ff6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</a:t>
            </a:r>
          </a:p>
        </p:txBody>
      </p:sp>
      <p:pic>
        <p:nvPicPr>
          <p:cNvPr id="5" name="Picture 4" descr="e731077e9f5ab4151180f6184e7fcb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偏导数:</a:t>
            </a:r>
          </a:p>
        </p:txBody>
      </p:sp>
      <p:pic>
        <p:nvPicPr>
          <p:cNvPr id="8" name="Picture 7" descr="04cff58889f7caa5e3fbe4d7affa30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pic>
        <p:nvPicPr>
          <p:cNvPr id="9" name="Picture 8" descr="fb49f1a619d84255142453952ad407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pic>
        <p:nvPicPr>
          <p:cNvPr id="10" name="Picture 9" descr="293ff65d555e37c8969f90a4137ff6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径面方程:对于弦方向</a:t>
            </a:r>
          </a:p>
        </p:txBody>
      </p:sp>
      <p:pic>
        <p:nvPicPr>
          <p:cNvPr id="13" name="Picture 12" descr="af7ede57782869fa1ebe2d047824d9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,径面的一般方程为</a:t>
            </a:r>
          </a:p>
        </p:txBody>
      </p:sp>
      <p:pic>
        <p:nvPicPr>
          <p:cNvPr id="15" name="Picture 14" descr="2906b531fbc71f90a9d3426ec803de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对于抛物面</a:t>
            </a:r>
          </a:p>
        </p:txBody>
      </p:sp>
      <p:pic>
        <p:nvPicPr>
          <p:cNvPr id="5" name="Picture 4" descr="e731077e9f5ab4151180f6184e7fcb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偏导数:</a:t>
            </a:r>
          </a:p>
        </p:txBody>
      </p:sp>
      <p:pic>
        <p:nvPicPr>
          <p:cNvPr id="8" name="Picture 7" descr="04cff58889f7caa5e3fbe4d7affa30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pic>
        <p:nvPicPr>
          <p:cNvPr id="9" name="Picture 8" descr="fb49f1a619d84255142453952ad407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93139"/>
            <a:ext cx="2743200" cy="600650"/>
          </a:xfrm>
          <a:prstGeom prst="rect">
            <a:avLst/>
          </a:prstGeom>
        </p:spPr>
      </p:pic>
      <p:pic>
        <p:nvPicPr>
          <p:cNvPr id="10" name="Picture 9" descr="293ff65d555e37c8969f90a4137ff6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7002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径面方程:对于弦方向</a:t>
            </a:r>
          </a:p>
        </p:txBody>
      </p:sp>
      <p:pic>
        <p:nvPicPr>
          <p:cNvPr id="13" name="Picture 12" descr="af7ede57782869fa1ebe2d047824d9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5747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80324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,径面的一般方程为</a:t>
            </a:r>
          </a:p>
        </p:txBody>
      </p:sp>
      <p:pic>
        <p:nvPicPr>
          <p:cNvPr id="15" name="Picture 14" descr="2906b531fbc71f90a9d3426ec803de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489650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93646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代入偏导数得:</a:t>
            </a:r>
          </a:p>
        </p:txBody>
      </p:sp>
      <p:pic>
        <p:nvPicPr>
          <p:cNvPr id="17" name="Picture 16" descr="f9a192c931452f4033cb0ffb29a7f3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982182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实例:抛物面(2) -径面方程推导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径面方程:对于弦方向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,代入偏导数得:</a:t>
            </a:r>
          </a:p>
        </p:txBody>
      </p:sp>
      <p:pic>
        <p:nvPicPr>
          <p:cNvPr id="7" name="Picture 6" descr="f9a192c931452f4033cb0ffb29a7f3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pic>
        <p:nvPicPr>
          <p:cNvPr id="8" name="Picture 7" descr="9f4f2f1fe754432d82fa4888e9768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3593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109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这就是抛物面</a:t>
            </a:r>
          </a:p>
        </p:txBody>
      </p:sp>
      <p:pic>
        <p:nvPicPr>
          <p:cNvPr id="10" name="Picture 9" descr="1adcc7c88e7492b6c6aa066fe8125bb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36810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243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关于方向</a:t>
            </a:r>
          </a:p>
        </p:txBody>
      </p:sp>
      <p:pic>
        <p:nvPicPr>
          <p:cNvPr id="12" name="Picture 11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70027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57524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的径面方程。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若弦平行于x轴:</a:t>
            </a:r>
          </a:p>
        </p:txBody>
      </p:sp>
      <p:pic>
        <p:nvPicPr>
          <p:cNvPr id="10" name="Picture 9" descr="eab900b146a701fe03b042d896e8a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2" name="Picture 11" descr="36663b5c709fe3fe70d4cca07829d2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4" name="Picture 13" descr="c884675bff1da1c224acea73ed94e2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6" name="Picture 15" descr="25730e1ced70c09c49e3a69e5c10c0f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若弦平行于x轴:</a:t>
            </a:r>
          </a:p>
        </p:txBody>
      </p:sp>
      <p:pic>
        <p:nvPicPr>
          <p:cNvPr id="10" name="Picture 9" descr="eab900b146a701fe03b042d896e8a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2" name="Picture 11" descr="36663b5c709fe3fe70d4cca07829d2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4" name="Picture 13" descr="c884675bff1da1c224acea73ed94e2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6" name="Picture 15" descr="25730e1ced70c09c49e3a69e5c10c0f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98218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则径面方程为:</a:t>
            </a:r>
          </a:p>
        </p:txBody>
      </p:sp>
      <p:pic>
        <p:nvPicPr>
          <p:cNvPr id="18" name="Picture 17" descr="bc9c60ba796add42130256506ac47f7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279020"/>
            <a:ext cx="2743200" cy="600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111539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 这是 yz-平面。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若弦平行于x轴:</a:t>
            </a:r>
          </a:p>
        </p:txBody>
      </p:sp>
      <p:pic>
        <p:nvPicPr>
          <p:cNvPr id="10" name="Picture 9" descr="eab900b146a701fe03b042d896e8a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... 这是 yz-平面。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825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若弦平行于y轴:</a:t>
            </a:r>
          </a:p>
        </p:txBody>
      </p:sp>
      <p:pic>
        <p:nvPicPr>
          <p:cNvPr id="13" name="Picture 12" descr="c86a68e0bfe008d3927066721265db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7397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7614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5" name="Picture 14" descr="1474f756189342855108a91ce55413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071879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89468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7" name="Picture 16" descr="70834fa19d2b7e7068b7403f87acf5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940405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2790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9" name="Picture 18" descr="25730e1ced70c09c49e3a69e5c10c0f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73622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实例:抛物面(3)-特定方向径面(Part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若弦平行于x轴:</a:t>
            </a:r>
          </a:p>
        </p:txBody>
      </p:sp>
      <p:pic>
        <p:nvPicPr>
          <p:cNvPr id="10" name="Picture 9" descr="eab900b146a701fe03b042d896e8a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... 这是 yz-平面。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825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若弦平行于y轴:</a:t>
            </a:r>
          </a:p>
        </p:txBody>
      </p:sp>
      <p:pic>
        <p:nvPicPr>
          <p:cNvPr id="13" name="Picture 12" descr="c86a68e0bfe008d3927066721265db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7397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7614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5" name="Picture 14" descr="1474f756189342855108a91ce554137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071879"/>
            <a:ext cx="2743200" cy="600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89468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7" name="Picture 16" descr="70834fa19d2b7e7068b7403f87acf5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9404050"/>
            <a:ext cx="2743200" cy="600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102790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9" name="Picture 18" descr="25730e1ced70c09c49e3a69e5c10c0f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10736220"/>
            <a:ext cx="2743200" cy="600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1161119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则径面方程为:</a:t>
            </a:r>
          </a:p>
        </p:txBody>
      </p:sp>
      <p:pic>
        <p:nvPicPr>
          <p:cNvPr id="21" name="Picture 20" descr="e3dade452e505be50a837f27489e2c7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12068390"/>
            <a:ext cx="2743200" cy="600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12943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这是 xz-平面。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径面方程:</a:t>
            </a:r>
          </a:p>
        </p:txBody>
      </p:sp>
      <p:pic>
        <p:nvPicPr>
          <p:cNvPr id="5" name="Picture 4" descr="82c070dca64c30b7e0125982562a2b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7" name="Picture 6" descr="af7ede57782869fa1ebe2d047824d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60969"/>
            <a:ext cx="2743200" cy="600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0359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(续):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若弦平行于z轴(抛物面的轴):</a:t>
            </a:r>
          </a:p>
        </p:txBody>
      </p:sp>
      <p:pic>
        <p:nvPicPr>
          <p:cNvPr id="10" name="Picture 9" descr="031d62320dadae1b2c8f3275f28395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2" name="Picture 11" descr="1474f756189342855108a91ce55413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4" name="Picture 13" descr="c884675bff1da1c224acea73ed94e2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614679"/>
            <a:ext cx="2743200" cy="600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848965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</a:t>
            </a:r>
          </a:p>
        </p:txBody>
      </p:sp>
      <p:pic>
        <p:nvPicPr>
          <p:cNvPr id="16" name="Picture 15" descr="1c31b81cfff178ee2e151382c48c2f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946850"/>
            <a:ext cx="2743200" cy="6006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(续):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若弦平行于z轴(抛物面的轴):</a:t>
            </a:r>
          </a:p>
        </p:txBody>
      </p:sp>
      <p:pic>
        <p:nvPicPr>
          <p:cNvPr id="8" name="Picture 7" descr="031d62320dadae1b2c8f3275f28395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0" name="Picture 9" descr="3f388918ab1c2ffa29111e95251fbc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则径面方程为:</a:t>
            </a:r>
          </a:p>
        </p:txBody>
      </p:sp>
      <p:pic>
        <p:nvPicPr>
          <p:cNvPr id="12" name="Picture 11" descr="d9426e6af91781043af8b6e83c4f56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 这是一个矛盾的等式。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实例:抛物面(4)-特定方向径面(Part II)与性质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(续):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若弦平行于z轴(抛物面的轴):</a:t>
            </a:r>
          </a:p>
        </p:txBody>
      </p:sp>
      <p:pic>
        <p:nvPicPr>
          <p:cNvPr id="8" name="Picture 7" descr="031d62320dadae1b2c8f3275f28395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(即</a:t>
            </a:r>
          </a:p>
        </p:txBody>
      </p:sp>
      <p:pic>
        <p:nvPicPr>
          <p:cNvPr id="10" name="Picture 9" descr="3f388918ab1c2ffa29111e95251fbc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50339"/>
            <a:ext cx="2743200" cy="600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253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则径面方程为:</a:t>
            </a:r>
          </a:p>
        </p:txBody>
      </p:sp>
      <p:pic>
        <p:nvPicPr>
          <p:cNvPr id="12" name="Picture 11" descr="d9426e6af91781043af8b6e83c4f56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282509"/>
            <a:ext cx="2743200" cy="60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71574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 这是一个矛盾的等式。 这意味着不存在与抛物面轴方向共轭的径面。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684"/>
                </a:solidFill>
              </a:defRPr>
            </a:pPr>
            <a:r>
              <a:t>实例:抛物面(4) - 特定方向径面(Part II)与性质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讨论特定方向</a:t>
            </a:r>
          </a:p>
        </p:txBody>
      </p:sp>
      <p:pic>
        <p:nvPicPr>
          <p:cNvPr id="5" name="Picture 4" descr="af7ede57782869fa1ebe2d047824d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2743200" cy="600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037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(续):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096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若弦平行于z轴(抛物面的轴):</a:t>
            </a:r>
          </a:p>
        </p:txBody>
      </p:sp>
      <p:pic>
        <p:nvPicPr>
          <p:cNvPr id="8" name="Picture 7" descr="031d62320dadae1b2c8f3275f28395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618169"/>
            <a:ext cx="2743200" cy="600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4931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... 这意味着不存在与抛物面轴方向共轭的径面。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503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000000"/>
                </a:solidFill>
              </a:defRPr>
            </a:pPr>
            <a:r>
              <a:t>•  一般性质:对于抛物面</a:t>
            </a:r>
          </a:p>
        </p:txBody>
      </p:sp>
      <p:pic>
        <p:nvPicPr>
          <p:cNvPr id="11" name="Picture 10" descr="1adcc7c88e7492b6c6aa066fe8125b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5407539"/>
            <a:ext cx="2743200" cy="60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28250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,其径面方程为</a:t>
            </a:r>
          </a:p>
        </p:txBody>
      </p:sp>
      <p:pic>
        <p:nvPicPr>
          <p:cNvPr id="13" name="Picture 12" descr="454833f1041e897f2a11690cf7aee4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739709"/>
            <a:ext cx="2743200" cy="600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76146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。 只要 X, Y不全为零,这个方程就代表一个平行于z轴的平面。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