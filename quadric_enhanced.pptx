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6.png"/><Relationship Id="rId6" Type="http://schemas.openxmlformats.org/officeDocument/2006/relationships/image" Target="../media/image2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6.png"/><Relationship Id="rId8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23.png"/><Relationship Id="rId4" Type="http://schemas.openxmlformats.org/officeDocument/2006/relationships/image" Target="../media/image26.png"/><Relationship Id="rId5" Type="http://schemas.openxmlformats.org/officeDocument/2006/relationships/image" Target="../media/image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23.png"/><Relationship Id="rId4" Type="http://schemas.openxmlformats.org/officeDocument/2006/relationships/image" Target="../media/image28.png"/><Relationship Id="rId5" Type="http://schemas.openxmlformats.org/officeDocument/2006/relationships/image" Target="../media/image26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6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7.png"/><Relationship Id="rId3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3" Type="http://schemas.openxmlformats.org/officeDocument/2006/relationships/image" Target="../media/image4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3.png"/><Relationship Id="rId3" Type="http://schemas.openxmlformats.org/officeDocument/2006/relationships/image" Target="../media/image42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2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2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26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9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1.png"/><Relationship Id="rId3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1.png"/><Relationship Id="rId3" Type="http://schemas.openxmlformats.org/officeDocument/2006/relationships/image" Target="../media/image50.png"/><Relationship Id="rId4" Type="http://schemas.openxmlformats.org/officeDocument/2006/relationships/image" Target="../media/image49.png"/><Relationship Id="rId5" Type="http://schemas.openxmlformats.org/officeDocument/2006/relationships/image" Target="../media/image1.png"/><Relationship Id="rId6" Type="http://schemas.openxmlformats.org/officeDocument/2006/relationships/image" Target="../media/image5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Relationship Id="rId3" Type="http://schemas.openxmlformats.org/officeDocument/2006/relationships/image" Target="../media/image4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3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png"/><Relationship Id="rId8" Type="http://schemas.openxmlformats.org/officeDocument/2006/relationships/image" Target="../media/image63.png"/><Relationship Id="rId9" Type="http://schemas.openxmlformats.org/officeDocument/2006/relationships/image" Target="../media/image64.png"/><Relationship Id="rId10" Type="http://schemas.openxmlformats.org/officeDocument/2006/relationships/image" Target="../media/image1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6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6.png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Relationship Id="rId6" Type="http://schemas.openxmlformats.org/officeDocument/2006/relationships/image" Target="../media/image41.png"/><Relationship Id="rId7" Type="http://schemas.openxmlformats.org/officeDocument/2006/relationships/image" Target="../media/image5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1.png"/><Relationship Id="rId3" Type="http://schemas.openxmlformats.org/officeDocument/2006/relationships/image" Target="../media/image7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1.png"/><Relationship Id="rId3" Type="http://schemas.openxmlformats.org/officeDocument/2006/relationships/image" Target="../media/image72.png"/><Relationship Id="rId4" Type="http://schemas.openxmlformats.org/officeDocument/2006/relationships/image" Target="../media/image73.png"/><Relationship Id="rId5" Type="http://schemas.openxmlformats.org/officeDocument/2006/relationships/image" Target="../media/image62.png"/><Relationship Id="rId6" Type="http://schemas.openxmlformats.org/officeDocument/2006/relationships/image" Target="../media/image74.png"/><Relationship Id="rId7" Type="http://schemas.openxmlformats.org/officeDocument/2006/relationships/image" Target="../media/image75.png"/><Relationship Id="rId8" Type="http://schemas.openxmlformats.org/officeDocument/2006/relationships/image" Target="../media/image1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76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2.png"/><Relationship Id="rId3" Type="http://schemas.openxmlformats.org/officeDocument/2006/relationships/image" Target="../media/image77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2.png"/><Relationship Id="rId3" Type="http://schemas.openxmlformats.org/officeDocument/2006/relationships/image" Target="../media/image77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Relationship Id="rId6" Type="http://schemas.openxmlformats.org/officeDocument/2006/relationships/image" Target="../media/image41.png"/><Relationship Id="rId7" Type="http://schemas.openxmlformats.org/officeDocument/2006/relationships/image" Target="../media/image5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2.png"/><Relationship Id="rId3" Type="http://schemas.openxmlformats.org/officeDocument/2006/relationships/image" Target="../media/image77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Relationship Id="rId6" Type="http://schemas.openxmlformats.org/officeDocument/2006/relationships/image" Target="../media/image41.png"/><Relationship Id="rId7" Type="http://schemas.openxmlformats.org/officeDocument/2006/relationships/image" Target="../media/image54.png"/><Relationship Id="rId8" Type="http://schemas.openxmlformats.org/officeDocument/2006/relationships/image" Target="../media/image8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1.png"/><Relationship Id="rId3" Type="http://schemas.openxmlformats.org/officeDocument/2006/relationships/image" Target="../media/image80.png"/><Relationship Id="rId4" Type="http://schemas.openxmlformats.org/officeDocument/2006/relationships/image" Target="../media/image81.png"/><Relationship Id="rId5" Type="http://schemas.openxmlformats.org/officeDocument/2006/relationships/image" Target="../media/image7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2.png"/><Relationship Id="rId3" Type="http://schemas.openxmlformats.org/officeDocument/2006/relationships/image" Target="../media/image41.png"/><Relationship Id="rId4" Type="http://schemas.openxmlformats.org/officeDocument/2006/relationships/image" Target="../media/image83.png"/><Relationship Id="rId5" Type="http://schemas.openxmlformats.org/officeDocument/2006/relationships/image" Target="../media/image84.png"/><Relationship Id="rId6" Type="http://schemas.openxmlformats.org/officeDocument/2006/relationships/image" Target="../media/image85.png"/><Relationship Id="rId7" Type="http://schemas.openxmlformats.org/officeDocument/2006/relationships/image" Target="../media/image86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2.png"/><Relationship Id="rId3" Type="http://schemas.openxmlformats.org/officeDocument/2006/relationships/image" Target="../media/image41.png"/><Relationship Id="rId4" Type="http://schemas.openxmlformats.org/officeDocument/2006/relationships/image" Target="../media/image83.png"/><Relationship Id="rId5" Type="http://schemas.openxmlformats.org/officeDocument/2006/relationships/image" Target="../media/image84.png"/><Relationship Id="rId6" Type="http://schemas.openxmlformats.org/officeDocument/2006/relationships/image" Target="../media/image85.png"/><Relationship Id="rId7" Type="http://schemas.openxmlformats.org/officeDocument/2006/relationships/image" Target="../media/image86.png"/><Relationship Id="rId8" Type="http://schemas.openxmlformats.org/officeDocument/2006/relationships/image" Target="../media/image8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2.png"/><Relationship Id="rId3" Type="http://schemas.openxmlformats.org/officeDocument/2006/relationships/image" Target="../media/image41.png"/><Relationship Id="rId4" Type="http://schemas.openxmlformats.org/officeDocument/2006/relationships/image" Target="../media/image83.png"/><Relationship Id="rId5" Type="http://schemas.openxmlformats.org/officeDocument/2006/relationships/image" Target="../media/image88.png"/><Relationship Id="rId6" Type="http://schemas.openxmlformats.org/officeDocument/2006/relationships/image" Target="../media/image89.png"/><Relationship Id="rId7" Type="http://schemas.openxmlformats.org/officeDocument/2006/relationships/image" Target="../media/image90.png"/><Relationship Id="rId8" Type="http://schemas.openxmlformats.org/officeDocument/2006/relationships/image" Target="../media/image86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2.png"/><Relationship Id="rId3" Type="http://schemas.openxmlformats.org/officeDocument/2006/relationships/image" Target="../media/image41.png"/><Relationship Id="rId4" Type="http://schemas.openxmlformats.org/officeDocument/2006/relationships/image" Target="../media/image83.png"/><Relationship Id="rId5" Type="http://schemas.openxmlformats.org/officeDocument/2006/relationships/image" Target="../media/image88.png"/><Relationship Id="rId6" Type="http://schemas.openxmlformats.org/officeDocument/2006/relationships/image" Target="../media/image89.png"/><Relationship Id="rId7" Type="http://schemas.openxmlformats.org/officeDocument/2006/relationships/image" Target="../media/image90.png"/><Relationship Id="rId8" Type="http://schemas.openxmlformats.org/officeDocument/2006/relationships/image" Target="../media/image86.png"/><Relationship Id="rId9" Type="http://schemas.openxmlformats.org/officeDocument/2006/relationships/image" Target="../media/image9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2.png"/><Relationship Id="rId3" Type="http://schemas.openxmlformats.org/officeDocument/2006/relationships/image" Target="../media/image41.png"/><Relationship Id="rId4" Type="http://schemas.openxmlformats.org/officeDocument/2006/relationships/image" Target="../media/image92.png"/><Relationship Id="rId5" Type="http://schemas.openxmlformats.org/officeDocument/2006/relationships/image" Target="../media/image89.png"/><Relationship Id="rId6" Type="http://schemas.openxmlformats.org/officeDocument/2006/relationships/image" Target="../media/image85.png"/><Relationship Id="rId7" Type="http://schemas.openxmlformats.org/officeDocument/2006/relationships/image" Target="../media/image9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1.png"/><Relationship Id="rId3" Type="http://schemas.openxmlformats.org/officeDocument/2006/relationships/image" Target="../media/image92.png"/><Relationship Id="rId4" Type="http://schemas.openxmlformats.org/officeDocument/2006/relationships/image" Target="../media/image94.png"/><Relationship Id="rId5" Type="http://schemas.openxmlformats.org/officeDocument/2006/relationships/image" Target="../media/image95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1.png"/><Relationship Id="rId3" Type="http://schemas.openxmlformats.org/officeDocument/2006/relationships/image" Target="../media/image92.png"/><Relationship Id="rId4" Type="http://schemas.openxmlformats.org/officeDocument/2006/relationships/image" Target="../media/image94.png"/><Relationship Id="rId5" Type="http://schemas.openxmlformats.org/officeDocument/2006/relationships/image" Target="../media/image95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1.png"/><Relationship Id="rId3" Type="http://schemas.openxmlformats.org/officeDocument/2006/relationships/image" Target="../media/image92.png"/><Relationship Id="rId4" Type="http://schemas.openxmlformats.org/officeDocument/2006/relationships/image" Target="../media/image71.png"/><Relationship Id="rId5" Type="http://schemas.openxmlformats.org/officeDocument/2006/relationships/image" Target="../media/image96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7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8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titlepage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二次曲面的一般方程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在三维直角坐标系</a:t>
            </a:r>
          </a:p>
        </p:txBody>
      </p:sp>
      <p:pic>
        <p:nvPicPr>
          <p:cNvPr id="5" name="Picture 4" descr="4bf16061f8c120f8adc4ba78f47396a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中,二次曲面的一般方程可以表示为:</a:t>
            </a:r>
          </a:p>
        </p:txBody>
      </p:sp>
      <p:pic>
        <p:nvPicPr>
          <p:cNvPr id="7" name="Picture 6" descr="e6de5d14123a3ad35a87d81c243f0a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160969"/>
            <a:ext cx="2743200" cy="573238"/>
          </a:xfrm>
          <a:prstGeom prst="rect">
            <a:avLst/>
          </a:prstGeom>
        </p:spPr>
      </p:pic>
      <p:pic>
        <p:nvPicPr>
          <p:cNvPr id="8" name="Picture 7" descr="40074ccd2ffff8cc7fa7472154b9a16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008527"/>
            <a:ext cx="2743200" cy="600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883497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其中</a:t>
            </a:r>
          </a:p>
        </p:txBody>
      </p:sp>
      <p:pic>
        <p:nvPicPr>
          <p:cNvPr id="10" name="Picture 9" descr="8f0771caf71bb175461089a6d73066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5340697"/>
            <a:ext cx="2743200" cy="600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215667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不全为零。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二次曲面中心的定义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若点</a:t>
            </a:r>
          </a:p>
        </p:txBody>
      </p:sp>
      <p:pic>
        <p:nvPicPr>
          <p:cNvPr id="5" name="Picture 4" descr="f8e4989404938e27e6bd5f82d18d5a9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满足以下条件:任何穿过</a:t>
            </a:r>
          </a:p>
        </p:txBody>
      </p:sp>
      <p:pic>
        <p:nvPicPr>
          <p:cNvPr id="7" name="Picture 6" descr="13899aa46204b02713a854702142955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160969"/>
            <a:ext cx="2743200" cy="600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0359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并与二次曲面相交于两点</a:t>
            </a:r>
          </a:p>
        </p:txBody>
      </p:sp>
      <p:pic>
        <p:nvPicPr>
          <p:cNvPr id="9" name="Picture 8" descr="47ddd0a8d1607438330cf19c0c1ac45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493139"/>
            <a:ext cx="2743200" cy="600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36810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,</a:t>
            </a:r>
          </a:p>
        </p:txBody>
      </p:sp>
      <p:pic>
        <p:nvPicPr>
          <p:cNvPr id="11" name="Picture 10" descr="2d145e3684093dda8dbfe869afa543f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5825309"/>
            <a:ext cx="2743200" cy="6006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670027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的直线(或在</a:t>
            </a:r>
          </a:p>
        </p:txBody>
      </p:sp>
      <p:pic>
        <p:nvPicPr>
          <p:cNvPr id="13" name="Picture 12" descr="13899aa46204b02713a854702142955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7157479"/>
            <a:ext cx="2743200" cy="6006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803244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点与曲面相切),</a:t>
            </a:r>
          </a:p>
        </p:txBody>
      </p:sp>
      <p:pic>
        <p:nvPicPr>
          <p:cNvPr id="15" name="Picture 14" descr="13899aa46204b02713a854702142955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8489650"/>
            <a:ext cx="2743200" cy="6006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200" y="93646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都是弦</a:t>
            </a:r>
          </a:p>
        </p:txBody>
      </p:sp>
      <p:pic>
        <p:nvPicPr>
          <p:cNvPr id="17" name="Picture 16" descr="0acf75775b20e3f8d94ad48f9461b9f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9821820"/>
            <a:ext cx="2743200" cy="6006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7200" y="1069679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(或切点</a:t>
            </a:r>
          </a:p>
        </p:txBody>
      </p:sp>
      <p:pic>
        <p:nvPicPr>
          <p:cNvPr id="19" name="Picture 18" descr="13899aa46204b02713a854702142955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1153990"/>
            <a:ext cx="2743200" cy="6006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7200" y="120289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本身)的中点,则称</a:t>
            </a:r>
          </a:p>
        </p:txBody>
      </p:sp>
      <p:pic>
        <p:nvPicPr>
          <p:cNvPr id="21" name="Picture 20" descr="13899aa46204b02713a854702142955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2486160"/>
            <a:ext cx="2743200" cy="6006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57200" y="1336113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为二次曲面的中心。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1381833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本节我们将详细推导中心坐标的方程。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中心坐标方程推导(一)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推导中心坐标方程: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设二次曲面方程为</a:t>
            </a:r>
          </a:p>
        </p:txBody>
      </p:sp>
      <p:pic>
        <p:nvPicPr>
          <p:cNvPr id="6" name="Picture 5" descr="0a2c525d5b24f8c9df36d81bb90ba9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2743200" cy="600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1609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,其具体表达式已在前文给出。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181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设中心点</a:t>
            </a:r>
          </a:p>
        </p:txBody>
      </p:sp>
      <p:pic>
        <p:nvPicPr>
          <p:cNvPr id="9" name="Picture 8" descr="13899aa46204b02713a854702142955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4075369"/>
            <a:ext cx="2743200" cy="600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49503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的坐标为</a:t>
            </a:r>
          </a:p>
        </p:txBody>
      </p:sp>
      <p:pic>
        <p:nvPicPr>
          <p:cNvPr id="11" name="Picture 10" descr="c0c59d28f1d65fd5d5a11f47aae30e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5407539"/>
            <a:ext cx="2743200" cy="6006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628250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。 考虑一条通过</a:t>
            </a:r>
          </a:p>
        </p:txBody>
      </p:sp>
      <p:pic>
        <p:nvPicPr>
          <p:cNvPr id="13" name="Picture 12" descr="13899aa46204b02713a854702142955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6739709"/>
            <a:ext cx="2743200" cy="6006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761467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的直线,其方向向量为</a:t>
            </a:r>
          </a:p>
        </p:txBody>
      </p:sp>
      <p:pic>
        <p:nvPicPr>
          <p:cNvPr id="15" name="Picture 14" descr="8baa1e600049c6fafae648b584e42bf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8071879"/>
            <a:ext cx="2743200" cy="6006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200" y="894685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(其中 X, Y, Z不全为零)。 该直线的参数方程为: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940405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将直线方程代入二次曲面方程</a:t>
            </a:r>
          </a:p>
        </p:txBody>
      </p:sp>
      <p:pic>
        <p:nvPicPr>
          <p:cNvPr id="18" name="Picture 17" descr="0a2c525d5b24f8c9df36d81bb90ba9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9861250"/>
            <a:ext cx="2743200" cy="6006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107362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经整理后,会得到一个关于t的二次方程: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11934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tiny</a:t>
            </a:r>
          </a:p>
        </p:txBody>
      </p:sp>
      <p:pic>
        <p:nvPicPr>
          <p:cNvPr id="21" name="Picture 20" descr="11e039b0282c86420e537525deeb20a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11650620"/>
            <a:ext cx="2743200" cy="4289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中心坐标方程推导(二):方程各项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承接上一页,关于t的二次方程为:</a:t>
            </a:r>
          </a:p>
        </p:txBody>
      </p:sp>
      <p:pic>
        <p:nvPicPr>
          <p:cNvPr id="5" name="Picture 4" descr="c9b5a0c7e7628c909437048930a9e5f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1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265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其中,</a:t>
            </a:r>
          </a:p>
        </p:txBody>
      </p:sp>
      <p:pic>
        <p:nvPicPr>
          <p:cNvPr id="7" name="Picture 6" descr="d23369eee20e6366e66a9d986d8cb3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160465"/>
            <a:ext cx="2743200" cy="600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035435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是</a:t>
            </a:r>
          </a:p>
        </p:txBody>
      </p:sp>
      <p:pic>
        <p:nvPicPr>
          <p:cNvPr id="9" name="Picture 8" descr="52e143df5c9c135a654a926838d1ad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492635"/>
            <a:ext cx="2743200" cy="600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367605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中</a:t>
            </a:r>
          </a:p>
        </p:txBody>
      </p:sp>
      <p:pic>
        <p:nvPicPr>
          <p:cNvPr id="11" name="Picture 10" descr="71b1312b307f921ddcf64f61e8da16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5824805"/>
            <a:ext cx="2743200" cy="6006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6699775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的系数:</a:t>
            </a:r>
          </a:p>
        </p:txBody>
      </p:sp>
      <p:pic>
        <p:nvPicPr>
          <p:cNvPr id="13" name="Picture 12" descr="50d9cef1005822a91febe9526aca613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7156975"/>
            <a:ext cx="2743200" cy="55032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中心坐标方程推导(二):方程各项</a:t>
            </a:r>
          </a:p>
        </p:txBody>
      </p:sp>
      <p:pic>
        <p:nvPicPr>
          <p:cNvPr id="4" name="Picture 3" descr="0315acb418a41e807abbaf0da71c22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371600"/>
            <a:ext cx="2743200" cy="600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2465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是</a:t>
            </a:r>
          </a:p>
        </p:txBody>
      </p:sp>
      <p:pic>
        <p:nvPicPr>
          <p:cNvPr id="6" name="Picture 5" descr="05f2f1f6344d4bdb8370c1ab38b042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2703769"/>
            <a:ext cx="2743200" cy="600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5787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关于</a:t>
            </a:r>
          </a:p>
        </p:txBody>
      </p:sp>
      <p:pic>
        <p:nvPicPr>
          <p:cNvPr id="8" name="Picture 7" descr="78b70da0fb6369f45abaccaaef4cab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035939"/>
            <a:ext cx="2743200" cy="600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91090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的偏导数(此处在</a:t>
            </a:r>
          </a:p>
        </p:txBody>
      </p:sp>
      <p:pic>
        <p:nvPicPr>
          <p:cNvPr id="10" name="Picture 9" descr="13899aa46204b02713a854702142955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5368109"/>
            <a:ext cx="2743200" cy="600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24307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点取值):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70027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frac{1}{2}F_{1}(x,y,z) equiv frac{1}{2} frac{ partial F}{ partial x} &amp;= a_{11}x+a_{12}y+a_{13}z+a_{14}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frac{1}{2}F_{2}(x,y,z) equiv frac{1}{2} frac{ partial F}{ partial y} &amp;= a_{12}x+a_{22}y+a_{23}z+a_{24}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frac{1}{2}F_{3}(x,y,z) equiv frac{1}{2} frac{ partial F}{ partial z} &amp;= a_{13}x+a_{23}y+a_{33}z+a_{34}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07187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(为方便后续书写,有时用</a:t>
            </a:r>
          </a:p>
        </p:txBody>
      </p:sp>
      <p:pic>
        <p:nvPicPr>
          <p:cNvPr id="14" name="Picture 13" descr="c3e26d09f9175f2a867696c91ce7a3a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8529079"/>
            <a:ext cx="2743200" cy="6006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7200" y="940405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表示方程组的左侧部分)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中心坐标方程推导(三):中心条件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回顾t的二次方程(在</a:t>
            </a:r>
          </a:p>
        </p:txBody>
      </p:sp>
      <p:pic>
        <p:nvPicPr>
          <p:cNvPr id="5" name="Picture 4" descr="f8e4989404938e27e6bd5f82d18d5a9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处):</a:t>
            </a:r>
          </a:p>
        </p:txBody>
      </p:sp>
      <p:pic>
        <p:nvPicPr>
          <p:cNvPr id="7" name="Picture 6" descr="30e4250939d146ebf7c04288c3a94cf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160969"/>
            <a:ext cx="2743200" cy="600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0359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(为简洁,</a:t>
            </a:r>
          </a:p>
        </p:txBody>
      </p:sp>
      <p:pic>
        <p:nvPicPr>
          <p:cNvPr id="9" name="Picture 8" descr="53b9f77b00655b7770e3fd03b49abf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493139"/>
            <a:ext cx="2743200" cy="600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36810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,</a:t>
            </a:r>
          </a:p>
        </p:txBody>
      </p:sp>
      <p:pic>
        <p:nvPicPr>
          <p:cNvPr id="11" name="Picture 10" descr="b6ad1b0e4cb56220d405017e8d6d86f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5825309"/>
            <a:ext cx="2743200" cy="6006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670027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若</a:t>
            </a:r>
          </a:p>
        </p:txBody>
      </p:sp>
      <p:pic>
        <p:nvPicPr>
          <p:cNvPr id="13" name="Picture 12" descr="f8e4989404938e27e6bd5f82d18d5a9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7157479"/>
            <a:ext cx="2743200" cy="6006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803244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是中心,则它是交点弦的中点。 这意味着对应于交点的值t1, t2 满足</a:t>
            </a:r>
          </a:p>
        </p:txBody>
      </p:sp>
      <p:pic>
        <p:nvPicPr>
          <p:cNvPr id="15" name="Picture 14" descr="93a52ed4411cd5277376a7542299dba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8489650"/>
            <a:ext cx="2743200" cy="6006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200" y="93646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(除非</a:t>
            </a:r>
          </a:p>
        </p:txBody>
      </p:sp>
      <p:pic>
        <p:nvPicPr>
          <p:cNvPr id="17" name="Picture 16" descr="13899aa46204b02713a854702142955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0" y="9821820"/>
            <a:ext cx="2743200" cy="6006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7200" y="1069679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是切点,</a:t>
            </a:r>
          </a:p>
        </p:txBody>
      </p:sp>
      <p:pic>
        <p:nvPicPr>
          <p:cNvPr id="19" name="Picture 18" descr="efe3ddf138aaaf1b46099459c34c8f1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0" y="11153990"/>
            <a:ext cx="2743200" cy="6006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7200" y="120289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中心坐标方程推导(三):中心条件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回顾t的二次方程(在</a:t>
            </a:r>
          </a:p>
        </p:txBody>
      </p:sp>
      <p:pic>
        <p:nvPicPr>
          <p:cNvPr id="5" name="Picture 4" descr="f8e4989404938e27e6bd5f82d18d5a9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处):</a:t>
            </a:r>
          </a:p>
        </p:txBody>
      </p:sp>
      <p:pic>
        <p:nvPicPr>
          <p:cNvPr id="7" name="Picture 6" descr="30e4250939d146ebf7c04288c3a94cf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160969"/>
            <a:ext cx="2743200" cy="600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0359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若</a:t>
            </a:r>
          </a:p>
        </p:txBody>
      </p:sp>
      <p:pic>
        <p:nvPicPr>
          <p:cNvPr id="9" name="Picture 8" descr="f8e4989404938e27e6bd5f82d18d5a9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4493139"/>
            <a:ext cx="2743200" cy="600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36810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是中心,则它是交点弦的中点。 这意味着对应于交点的值t1, t2 满足</a:t>
            </a:r>
          </a:p>
        </p:txBody>
      </p:sp>
      <p:pic>
        <p:nvPicPr>
          <p:cNvPr id="11" name="Picture 10" descr="93a52ed4411cd5277376a7542299dba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5825309"/>
            <a:ext cx="2743200" cy="6006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670027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(除非</a:t>
            </a:r>
          </a:p>
        </p:txBody>
      </p:sp>
      <p:pic>
        <p:nvPicPr>
          <p:cNvPr id="13" name="Picture 12" descr="13899aa46204b02713a854702142955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7157479"/>
            <a:ext cx="2743200" cy="6006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803244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是切点,</a:t>
            </a:r>
          </a:p>
        </p:txBody>
      </p:sp>
      <p:pic>
        <p:nvPicPr>
          <p:cNvPr id="15" name="Picture 14" descr="efe3ddf138aaaf1b46099459c34c8f1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8489650"/>
            <a:ext cx="2743200" cy="6006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200" y="93646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98218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根据韦达定理,根的和为</a:t>
            </a:r>
          </a:p>
        </p:txBody>
      </p:sp>
      <p:pic>
        <p:nvPicPr>
          <p:cNvPr id="18" name="Picture 17" descr="f57220995715ffdf3ef887bf59848e4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0" y="10279020"/>
            <a:ext cx="2743200" cy="6006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中心坐标方程推导(三):中心条件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回顾t的二次方程(在</a:t>
            </a:r>
          </a:p>
        </p:txBody>
      </p:sp>
      <p:pic>
        <p:nvPicPr>
          <p:cNvPr id="5" name="Picture 4" descr="f8e4989404938e27e6bd5f82d18d5a9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处):</a:t>
            </a:r>
          </a:p>
        </p:txBody>
      </p:sp>
      <p:pic>
        <p:nvPicPr>
          <p:cNvPr id="7" name="Picture 6" descr="30e4250939d146ebf7c04288c3a94cf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160969"/>
            <a:ext cx="2743200" cy="600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0359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根据韦达定理,根的和为</a:t>
            </a:r>
          </a:p>
        </p:txBody>
      </p:sp>
      <p:pic>
        <p:nvPicPr>
          <p:cNvPr id="9" name="Picture 8" descr="f57220995715ffdf3ef887bf59848e4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493139"/>
            <a:ext cx="2743200" cy="600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36810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因此,要使</a:t>
            </a:r>
          </a:p>
        </p:txBody>
      </p:sp>
      <p:pic>
        <p:nvPicPr>
          <p:cNvPr id="11" name="Picture 10" descr="93a52ed4411cd5277376a7542299dba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5825309"/>
            <a:ext cx="2743200" cy="6006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670027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(假设</a:t>
            </a:r>
          </a:p>
        </p:txBody>
      </p:sp>
      <p:pic>
        <p:nvPicPr>
          <p:cNvPr id="13" name="Picture 12" descr="e7cfdfc64f110fd1cc4a00dde7e83dc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7157479"/>
            <a:ext cx="2743200" cy="6006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803244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即直线不与曲面在此方向上具有渐进性质),t的一次项系数必须为零:</a:t>
            </a:r>
          </a:p>
        </p:txBody>
      </p:sp>
      <p:pic>
        <p:nvPicPr>
          <p:cNvPr id="15" name="Picture 14" descr="724dcf1f5992bea4a512d041d47036d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0" y="8489650"/>
            <a:ext cx="2743200" cy="6006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中心坐标方程推导(三):中心条件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要使</a:t>
            </a:r>
          </a:p>
        </p:txBody>
      </p:sp>
      <p:pic>
        <p:nvPicPr>
          <p:cNvPr id="5" name="Picture 4" descr="93a52ed4411cd5277376a7542299db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, t的一次项系数必须为零:</a:t>
            </a:r>
          </a:p>
        </p:txBody>
      </p:sp>
      <p:pic>
        <p:nvPicPr>
          <p:cNvPr id="7" name="Picture 6" descr="724dcf1f5992bea4a512d041d47036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160969"/>
            <a:ext cx="2743200" cy="600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0359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由于此式对任意方向向量</a:t>
            </a:r>
          </a:p>
        </p:txBody>
      </p:sp>
      <p:pic>
        <p:nvPicPr>
          <p:cNvPr id="9" name="Picture 8" descr="ba4426fd467b498d040a2fff8d71ab5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493139"/>
            <a:ext cx="2743200" cy="600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36810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均成立,所以X, Y, Z的系数必须同时为零: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中心坐标方程组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条件</a:t>
            </a:r>
          </a:p>
        </p:txBody>
      </p:sp>
      <p:pic>
        <p:nvPicPr>
          <p:cNvPr id="5" name="Picture 4" descr="e5b735022dd1011dc03ba81304cf24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F2(xo, yo, zo) = 0,</a:t>
            </a:r>
          </a:p>
        </p:txBody>
      </p:sp>
      <p:pic>
        <p:nvPicPr>
          <p:cNvPr id="7" name="Picture 6" descr="c677b9159a165d15531e4b9db10384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160969"/>
            <a:ext cx="2743200" cy="600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0359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展开即为: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931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2a_{11}x_{0}+2a_{12}y_{0}+2a_{13}z_{0}+2a_{14} &amp;= 0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2a_{12}x_{0}+2a_{22}y_{0}+2a_{23}z_{0}+2a_{24} &amp;= 0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2a_{13}x_{0}+2a_{23}y_{0}+2a_{33}z_{0}+2a_{34} &amp;= 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中心坐标方程组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这个线性方程组确定了二次曲面的中心</a:t>
            </a:r>
          </a:p>
        </p:txBody>
      </p:sp>
      <p:pic>
        <p:nvPicPr>
          <p:cNvPr id="5" name="Picture 4" descr="c0c59d28f1d65fd5d5a11f47aae30e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。 通常写为更简洁的形式: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609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a_{11}x_{0}+a_{12}y_{0}+a_{13}z_{0}=-a_{14}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a_{12}x_{0}+a_{22}y_{0}+a_{23}z_{0}=-a_{24}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a_{13}x_{0}+a_{23}y_{0}+a_{33}z_{0}=-a_{34}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中心的分类:方程组回顾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中心坐标</a:t>
            </a:r>
          </a:p>
        </p:txBody>
      </p:sp>
      <p:pic>
        <p:nvPicPr>
          <p:cNvPr id="5" name="Picture 4" descr="c0c59d28f1d65fd5d5a11f47aae30e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由以下线性方程组确定: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609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a_{11}x_{0}+a_{12}y_{0}+a_{13}z_{0}=-a_{14}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a_{12}x_{0}+a_{22}y_{0}+a_{23}z_{0}=-a_{24}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a_{13}x_{0}+a_{23}y_{0}+a_{33}z_{0}=-a_{34}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3257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8977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000000"/>
                </a:solidFill>
              </a:defRPr>
            </a:pPr>
            <a:r>
              <a:t>E_{0}=\begin{pmatrix}a_{11}&amp;a_{12}&amp;a_{13}\\ a_{12}&amp;a_{22}&amp;a_{23}\\ a_{13}&amp;a_{23}&amp;a_{33}\end{pmatrix}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2129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为系数矩阵, 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17849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000000"/>
                </a:solidFill>
              </a:defRPr>
            </a:pPr>
            <a:r>
              <a:t>k=\begin{pmatrix}-a_{14}\\ -a_{24}\\ -a_{34}\end{pmatrix}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91000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为常数项列向量。 方程组为</a:t>
            </a:r>
          </a:p>
        </p:txBody>
      </p:sp>
      <p:pic>
        <p:nvPicPr>
          <p:cNvPr id="13" name="Picture 12" descr="cd985fabafb706b1c4c605e6c435d1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7367209"/>
            <a:ext cx="2743200" cy="6006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824217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。 解的情况取决于行列式</a:t>
            </a:r>
          </a:p>
        </p:txBody>
      </p:sp>
      <p:pic>
        <p:nvPicPr>
          <p:cNvPr id="15" name="Picture 14" descr="9ba646faed1d7ae583ad7770a91893c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8699380"/>
            <a:ext cx="2743200" cy="6006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200" y="957435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以及增广矩阵</a:t>
            </a:r>
          </a:p>
        </p:txBody>
      </p:sp>
      <p:pic>
        <p:nvPicPr>
          <p:cNvPr id="17" name="Picture 16" descr="2b9321a8f6c60b965cae1f7f9c7fcc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10031550"/>
            <a:ext cx="2743200" cy="6006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7200" y="109065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的秩。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中心的分类:有唯一中心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情况1:有唯一中心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当系数矩阵的行列式</a:t>
            </a:r>
          </a:p>
        </p:txBody>
      </p:sp>
      <p:pic>
        <p:nvPicPr>
          <p:cNvPr id="6" name="Picture 5" descr="b2f41f43bf26d34ca28e88a87b297e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2743200" cy="600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1609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时,方程组有唯一解</a:t>
            </a:r>
          </a:p>
        </p:txBody>
      </p:sp>
      <p:pic>
        <p:nvPicPr>
          <p:cNvPr id="8" name="Picture 7" descr="c0c59d28f1d65fd5d5a11f47aae30e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618169"/>
            <a:ext cx="2743200" cy="600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4931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9503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这种曲面称为有心二次曲面。</a:t>
            </a:r>
          </a:p>
          <a:p>
            <a:pPr lvl="1">
              <a:defRPr sz="2000">
                <a:solidFill>
                  <a:srgbClr val="000000"/>
                </a:solidFill>
              </a:defRPr>
            </a:pPr>
            <a:r>
              <a:t>•  例如:椭球面、双曲面。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caption{如:椭球面}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中心的分类:有无穷多中心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情况 2:有无穷多中心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当</a:t>
            </a:r>
          </a:p>
        </p:txBody>
      </p:sp>
      <p:pic>
        <p:nvPicPr>
          <p:cNvPr id="6" name="Picture 5" descr="b75ac7882c343533c323cb4879c76c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2743200" cy="600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1609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且方程组相容(即</a:t>
            </a:r>
          </a:p>
        </p:txBody>
      </p:sp>
      <p:pic>
        <p:nvPicPr>
          <p:cNvPr id="8" name="Picture 7" descr="7d7c8309ff54b6dddae49c2074bfee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618169"/>
            <a:ext cx="2743200" cy="600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4931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时,方程组有无穷多解。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9503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这些解构成一条直线(若秩为2,中心线)或一个平面(若秩为1,中心面)。</a:t>
            </a:r>
          </a:p>
          <a:p>
            <a:pPr lvl="1">
              <a:defRPr sz="2000">
                <a:solidFill>
                  <a:srgbClr val="000000"/>
                </a:solidFill>
              </a:defRPr>
            </a:pPr>
            <a:r>
              <a:t>•  例如:椭圆柱面(中心线),两个平行平面(中心面)。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caption{如:椭圆柱面}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中心的分类:无中心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情况3:无中心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当</a:t>
            </a:r>
          </a:p>
        </p:txBody>
      </p:sp>
      <p:pic>
        <p:nvPicPr>
          <p:cNvPr id="6" name="Picture 5" descr="b75ac7882c343533c323cb4879c76c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2743200" cy="600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1609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且方程组不相容(即</a:t>
            </a:r>
          </a:p>
        </p:txBody>
      </p:sp>
      <p:pic>
        <p:nvPicPr>
          <p:cNvPr id="8" name="Picture 7" descr="23946f5cecfc35fd2d5300e6612e81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618169"/>
            <a:ext cx="2743200" cy="600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4931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时,方程组无解。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9503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这种曲面称为无心二次曲面。</a:t>
            </a:r>
          </a:p>
          <a:p>
            <a:pPr lvl="1">
              <a:defRPr sz="2000">
                <a:solidFill>
                  <a:srgbClr val="000000"/>
                </a:solidFill>
              </a:defRPr>
            </a:pPr>
            <a:r>
              <a:t>•  例如:抛物面、抛物柱面。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caption{如:抛物面}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二次曲面径面的定义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径面是与二次曲面的一组平行弦的几何轨迹相关联的平面。</a:t>
            </a:r>
          </a:p>
          <a:p>
            <a:pPr lvl="1">
              <a:defRPr sz="2000">
                <a:solidFill>
                  <a:srgbClr val="000000"/>
                </a:solidFill>
              </a:defRPr>
            </a:pPr>
            <a:r>
              <a:t>•  具体来说,共轭于给定方向的平面:它平行地切过所有平行于该方向的弦的中点。</a:t>
            </a:r>
          </a:p>
          <a:p>
            <a:pPr lvl="1">
              <a:defRPr sz="2000">
                <a:solidFill>
                  <a:srgbClr val="000000"/>
                </a:solidFill>
              </a:defRPr>
            </a:pPr>
            <a:r>
              <a:t>•  径面也是曲面的一个对称面(当弦方向为特定方向时)。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caption{弦方向d, 径面(中点轨迹)}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径面的方程推导(一):直线与曲面交点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考虑二次曲面</a:t>
            </a:r>
          </a:p>
        </p:txBody>
      </p:sp>
      <p:pic>
        <p:nvPicPr>
          <p:cNvPr id="5" name="Picture 4" descr="0a2c525d5b24f8c9df36d81bb90ba9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径面的方程推导(一):直线与曲面交点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考虑二次曲面</a:t>
            </a:r>
          </a:p>
        </p:txBody>
      </p:sp>
      <p:pic>
        <p:nvPicPr>
          <p:cNvPr id="5" name="Picture 4" descr="0a2c525d5b24f8c9df36d81bb90ba9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。 设有一族平行弦,其共同方向向量为</a:t>
            </a:r>
          </a:p>
        </p:txBody>
      </p:sp>
      <p:pic>
        <p:nvPicPr>
          <p:cNvPr id="7" name="Picture 6" descr="af7ede57782869fa1ebe2d047824d9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160969"/>
            <a:ext cx="2743200" cy="600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0359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(其中X, Y, Z不全为零)。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径面的方程推导(一):直线与曲面交点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考虑二次曲面</a:t>
            </a:r>
          </a:p>
        </p:txBody>
      </p:sp>
      <p:pic>
        <p:nvPicPr>
          <p:cNvPr id="5" name="Picture 4" descr="0a2c525d5b24f8c9df36d81bb90ba9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。 设有一族平行弦,其共同方向向量为</a:t>
            </a:r>
          </a:p>
        </p:txBody>
      </p:sp>
      <p:pic>
        <p:nvPicPr>
          <p:cNvPr id="7" name="Picture 6" descr="af7ede57782869fa1ebe2d047824d9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160969"/>
            <a:ext cx="2743200" cy="600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0359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(其中X, Y, Z不全为零)。 设这些弦中某一条弦的中点为</a:t>
            </a:r>
          </a:p>
        </p:txBody>
      </p:sp>
      <p:pic>
        <p:nvPicPr>
          <p:cNvPr id="9" name="Picture 8" descr="f24a1d3863c5d6183c37bc30b23bd77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493139"/>
            <a:ext cx="2743200" cy="600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36810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。 这条弦上的点(x, y, z)的参数方程为: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径面的方程推导(一):直线与曲面交点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将此直线方程代入二次曲面方程</a:t>
            </a:r>
          </a:p>
        </p:txBody>
      </p:sp>
      <p:pic>
        <p:nvPicPr>
          <p:cNvPr id="5" name="Picture 4" descr="0a2c525d5b24f8c9df36d81bb90ba9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,得到一个关于t的二次方程(与中心推导时类似):</a:t>
            </a:r>
          </a:p>
        </p:txBody>
      </p:sp>
      <p:pic>
        <p:nvPicPr>
          <p:cNvPr id="7" name="Picture 6" descr="6553085eb9485958694aec059579180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160969"/>
            <a:ext cx="2743200" cy="600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0359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(简写</a:t>
            </a:r>
          </a:p>
        </p:txBody>
      </p:sp>
      <p:pic>
        <p:nvPicPr>
          <p:cNvPr id="9" name="Picture 8" descr="de3b9ddedf9efefd96e66424de13e88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493139"/>
            <a:ext cx="2743200" cy="600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36810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and</a:t>
            </a:r>
          </a:p>
        </p:txBody>
      </p:sp>
      <p:pic>
        <p:nvPicPr>
          <p:cNvPr id="11" name="Picture 10" descr="fda83e5f02a05957b2a9cf3f5f3774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5825309"/>
            <a:ext cx="2743200" cy="6006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径面的方程推导(二):中点条件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上一页得到的t的二次方程为:</a:t>
            </a:r>
          </a:p>
        </p:txBody>
      </p:sp>
      <p:pic>
        <p:nvPicPr>
          <p:cNvPr id="5" name="Picture 4" descr="6553085eb9485958694aec059579180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径面的方程推导(二):中点条件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上一页得到的t的二次方程为:</a:t>
            </a:r>
          </a:p>
        </p:txBody>
      </p:sp>
      <p:pic>
        <p:nvPicPr>
          <p:cNvPr id="5" name="Picture 4" descr="6553085eb9485958694aec059579180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若</a:t>
            </a:r>
          </a:p>
        </p:txBody>
      </p:sp>
      <p:pic>
        <p:nvPicPr>
          <p:cNvPr id="7" name="Picture 6" descr="f24a1d3863c5d6183c37bc30b23bd77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160969"/>
            <a:ext cx="2743200" cy="600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0359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是弦的两个交点</a:t>
            </a:r>
          </a:p>
        </p:txBody>
      </p:sp>
      <p:pic>
        <p:nvPicPr>
          <p:cNvPr id="9" name="Picture 8" descr="dd37ca4db7ba2d76dd1ba3ae3a3dc59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493139"/>
            <a:ext cx="2743200" cy="600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36810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(对应参数</a:t>
            </a:r>
          </a:p>
        </p:txBody>
      </p:sp>
      <p:pic>
        <p:nvPicPr>
          <p:cNvPr id="11" name="Picture 10" descr="19cca69861040e37714a23e668ef79f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5825309"/>
            <a:ext cx="2743200" cy="6006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670027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的中点,则</a:t>
            </a:r>
          </a:p>
        </p:txBody>
      </p:sp>
      <p:pic>
        <p:nvPicPr>
          <p:cNvPr id="13" name="Picture 12" descr="93a52ed4411cd5277376a7542299dba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7157479"/>
            <a:ext cx="2743200" cy="6006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803244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径面的方程推导(二):中点条件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若</a:t>
            </a:r>
          </a:p>
        </p:txBody>
      </p:sp>
      <p:pic>
        <p:nvPicPr>
          <p:cNvPr id="5" name="Picture 4" descr="f24a1d3863c5d6183c37bc30b23bd77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是弦的两个交点</a:t>
            </a:r>
          </a:p>
        </p:txBody>
      </p:sp>
      <p:pic>
        <p:nvPicPr>
          <p:cNvPr id="7" name="Picture 6" descr="dd37ca4db7ba2d76dd1ba3ae3a3dc5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160969"/>
            <a:ext cx="2743200" cy="600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0359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(对应参数</a:t>
            </a:r>
          </a:p>
        </p:txBody>
      </p:sp>
      <p:pic>
        <p:nvPicPr>
          <p:cNvPr id="9" name="Picture 8" descr="19cca69861040e37714a23e668ef79f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493139"/>
            <a:ext cx="2743200" cy="600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36810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的中点,则</a:t>
            </a:r>
          </a:p>
        </p:txBody>
      </p:sp>
      <p:pic>
        <p:nvPicPr>
          <p:cNvPr id="11" name="Picture 10" descr="93a52ed4411cd5277376a7542299dba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5825309"/>
            <a:ext cx="2743200" cy="6006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670027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715747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根据韦达定理,这意味着t的一次项系数必须为零(假设</a:t>
            </a:r>
          </a:p>
        </p:txBody>
      </p:sp>
      <p:pic>
        <p:nvPicPr>
          <p:cNvPr id="14" name="Picture 13" descr="5f25464a437f77975b9b7de7b77fb71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7614679"/>
            <a:ext cx="2743200" cy="6006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7200" y="848965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:</a:t>
            </a:r>
          </a:p>
        </p:txBody>
      </p:sp>
      <p:pic>
        <p:nvPicPr>
          <p:cNvPr id="16" name="Picture 15" descr="d822ff299f3b56701543fabd2dc2e70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0" y="8946850"/>
            <a:ext cx="2743200" cy="60065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径面的方程推导(二):中点条件</a:t>
            </a:r>
          </a:p>
        </p:txBody>
      </p:sp>
      <p:pic>
        <p:nvPicPr>
          <p:cNvPr id="4" name="Picture 3" descr="d822ff299f3b56701543fabd2dc2e7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371600"/>
            <a:ext cx="2743200" cy="600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2465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这里</a:t>
            </a:r>
          </a:p>
        </p:txBody>
      </p:sp>
      <p:pic>
        <p:nvPicPr>
          <p:cNvPr id="6" name="Picture 5" descr="0315acb418a41e807abbaf0da71c225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2703769"/>
            <a:ext cx="2743200" cy="600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5787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是</a:t>
            </a:r>
          </a:p>
        </p:txBody>
      </p:sp>
      <p:pic>
        <p:nvPicPr>
          <p:cNvPr id="8" name="Picture 7" descr="05f2f1f6344d4bdb8370c1ab38b042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035939"/>
            <a:ext cx="2743200" cy="600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91090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对</a:t>
            </a:r>
          </a:p>
        </p:txBody>
      </p:sp>
      <p:pic>
        <p:nvPicPr>
          <p:cNvPr id="10" name="Picture 9" descr="78b70da0fb6369f45abaccaaef4cabe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5368109"/>
            <a:ext cx="2743200" cy="600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24307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在点 M处的偏导数。 这个方程是所有平行于方向</a:t>
            </a:r>
          </a:p>
        </p:txBody>
      </p:sp>
      <p:pic>
        <p:nvPicPr>
          <p:cNvPr id="12" name="Picture 11" descr="af7ede57782869fa1ebe2d047824d93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6700279"/>
            <a:ext cx="2743200" cy="6006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757524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的弦的中点</a:t>
            </a:r>
          </a:p>
        </p:txBody>
      </p:sp>
      <p:pic>
        <p:nvPicPr>
          <p:cNvPr id="14" name="Picture 13" descr="f24a1d3863c5d6183c37bc30b23bd77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0" y="8032449"/>
            <a:ext cx="2743200" cy="6006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7200" y="89074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必须满足的条件。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径面的方程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所有平行于方向</a:t>
            </a:r>
          </a:p>
        </p:txBody>
      </p:sp>
      <p:pic>
        <p:nvPicPr>
          <p:cNvPr id="5" name="Picture 4" descr="af7ede57782869fa1ebe2d047824d9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的弦的中点</a:t>
            </a:r>
          </a:p>
        </p:txBody>
      </p:sp>
      <p:pic>
        <p:nvPicPr>
          <p:cNvPr id="7" name="Picture 6" descr="8445f994fb8c8d7ae30b90950bf9214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160969"/>
            <a:ext cx="2743200" cy="600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0359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满足:</a:t>
            </a:r>
          </a:p>
        </p:txBody>
      </p:sp>
      <p:pic>
        <p:nvPicPr>
          <p:cNvPr id="9" name="Picture 8" descr="d822ff299f3b56701543fabd2dc2e7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493139"/>
            <a:ext cx="2743200" cy="60065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径面的方程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所有平行于方向</a:t>
            </a:r>
          </a:p>
        </p:txBody>
      </p:sp>
      <p:pic>
        <p:nvPicPr>
          <p:cNvPr id="5" name="Picture 4" descr="af7ede57782869fa1ebe2d047824d9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的弦的中点</a:t>
            </a:r>
          </a:p>
        </p:txBody>
      </p:sp>
      <p:pic>
        <p:nvPicPr>
          <p:cNvPr id="7" name="Picture 6" descr="8445f994fb8c8d7ae30b90950bf9214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160969"/>
            <a:ext cx="2743200" cy="600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0359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满足:</a:t>
            </a:r>
          </a:p>
        </p:txBody>
      </p:sp>
      <p:pic>
        <p:nvPicPr>
          <p:cNvPr id="9" name="Picture 8" descr="d822ff299f3b56701543fabd2dc2e7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493139"/>
            <a:ext cx="2743200" cy="600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36810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将</a:t>
            </a:r>
          </a:p>
        </p:txBody>
      </p:sp>
      <p:pic>
        <p:nvPicPr>
          <p:cNvPr id="11" name="Picture 10" descr="8445f994fb8c8d7ae30b90950bf9214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5825309"/>
            <a:ext cx="2743200" cy="6006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670027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替换为径面上任意点的通用坐标</a:t>
            </a:r>
          </a:p>
        </p:txBody>
      </p:sp>
      <p:pic>
        <p:nvPicPr>
          <p:cNvPr id="13" name="Picture 12" descr="4bf16061f8c120f8adc4ba78f47396a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7157479"/>
            <a:ext cx="2743200" cy="6006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803244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,并代入偏导数表达式:</a:t>
            </a:r>
          </a:p>
        </p:txBody>
      </p:sp>
      <p:pic>
        <p:nvPicPr>
          <p:cNvPr id="15" name="Picture 14" descr="cfbf03dcc9f9ecd05725ef24143dc50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8489650"/>
            <a:ext cx="2743200" cy="6006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200" y="93646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, etc.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径面的方程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得到径面方程: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X(2a_{11}x+2a_{12}y+2a_{13}z+2a_{14})&amp;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+Y(2a_{12}x+2a_{22}y+2a_{23}z+2a_{24})&amp;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+Z(2a_{13}x+2a_{23}y+2a_{33}z+2a_{34})&amp;=0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径面的方程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径面方程: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X(2a_{11}x+2a_{12}y+2a_{13}z+2a_{14})&amp;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+Y(2a_{12}x+2a_{22}y+2a_{23}z+2a_{24})&amp;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+Z(2a_{13}x+2a_{23}y+2a_{33}z+2a_{34})&amp;=0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这是一个关于</a:t>
            </a:r>
          </a:p>
        </p:txBody>
      </p:sp>
      <p:pic>
        <p:nvPicPr>
          <p:cNvPr id="6" name="Picture 5" descr="78b70da0fb6369f45abaccaaef4cab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3657600"/>
            <a:ext cx="2743200" cy="600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53257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的线性方程,因此代表一个平面。 此平面称为与方向</a:t>
            </a:r>
          </a:p>
        </p:txBody>
      </p:sp>
      <p:pic>
        <p:nvPicPr>
          <p:cNvPr id="8" name="Picture 7" descr="af7ede57782869fa1ebe2d047824d9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4989770"/>
            <a:ext cx="2743200" cy="600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8647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共轭的径面。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径面的性质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与中心的关系:如果二次曲面有中心</a:t>
            </a:r>
          </a:p>
        </p:txBody>
      </p:sp>
      <p:pic>
        <p:nvPicPr>
          <p:cNvPr id="5" name="Picture 4" descr="c0c59d28f1d65fd5d5a11f47aae30e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,则该中心满足</a:t>
            </a:r>
          </a:p>
        </p:txBody>
      </p:sp>
      <p:pic>
        <p:nvPicPr>
          <p:cNvPr id="7" name="Picture 6" descr="2d9bdcf8d138a87e07ce0f21019ea49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160969"/>
            <a:ext cx="2743200" cy="600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0359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,</a:t>
            </a:r>
          </a:p>
        </p:txBody>
      </p:sp>
      <p:pic>
        <p:nvPicPr>
          <p:cNvPr id="9" name="Picture 8" descr="87490c0e691e8d2cb96233f1f6c8f1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493139"/>
            <a:ext cx="2743200" cy="600650"/>
          </a:xfrm>
          <a:prstGeom prst="rect">
            <a:avLst/>
          </a:prstGeom>
        </p:spPr>
      </p:pic>
      <p:pic>
        <p:nvPicPr>
          <p:cNvPr id="10" name="Picture 9" descr="c677b9159a165d15531e4b9db10384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5368109"/>
            <a:ext cx="2743200" cy="600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24307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。 将</a:t>
            </a:r>
          </a:p>
        </p:txBody>
      </p:sp>
      <p:pic>
        <p:nvPicPr>
          <p:cNvPr id="12" name="Picture 11" descr="c0c59d28f1d65fd5d5a11f47aae30e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6700279"/>
            <a:ext cx="2743200" cy="6006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757524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代入径面方程</a:t>
            </a:r>
          </a:p>
        </p:txBody>
      </p:sp>
      <p:pic>
        <p:nvPicPr>
          <p:cNvPr id="14" name="Picture 13" descr="2906b531fbc71f90a9d3426ec803def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8032449"/>
            <a:ext cx="2743200" cy="6006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7200" y="89074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,得到</a:t>
            </a:r>
          </a:p>
        </p:txBody>
      </p:sp>
      <p:pic>
        <p:nvPicPr>
          <p:cNvPr id="16" name="Picture 15" descr="ee9fd7f419077ae0d480500b3ef1330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0" y="9364620"/>
            <a:ext cx="2743200" cy="6006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" y="1023959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, 即</a:t>
            </a:r>
          </a:p>
        </p:txBody>
      </p:sp>
      <p:pic>
        <p:nvPicPr>
          <p:cNvPr id="18" name="Picture 17" descr="7bb9d941d22396f1ddf635a5cc656c7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0" y="10696790"/>
            <a:ext cx="2743200" cy="6006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11571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径面的性质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与中心的关系: ... 因此,所有有心二次曲面的径面都通过其中心。</a:t>
            </a:r>
          </a:p>
          <a:p>
            <a:pPr lvl="1">
              <a:defRPr sz="2000">
                <a:solidFill>
                  <a:srgbClr val="000000"/>
                </a:solidFill>
              </a:defRPr>
            </a:pPr>
            <a:r>
              <a:t>•  主径面:当弦的方向d垂直于径面时,该径面称为主径面。 主径面是二次曲面的对称平面。 弦的方向d此时是曲面的一个主方向(主轴方向)。</a:t>
            </a:r>
          </a:p>
          <a:p>
            <a:pPr lvl="1">
              <a:defRPr sz="2000">
                <a:solidFill>
                  <a:srgbClr val="000000"/>
                </a:solidFill>
              </a:defRPr>
            </a:pPr>
            <a:r>
              <a:t>•  非中心二次曲面的径面:对于抛物面等无中心的二次曲面,其径面仍然存在。 例如,抛物面的所有径面都平行于其轴。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caption{径面, 中心}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实例:椭球面(1)- 方程与中心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考虑椭球面方程:</a:t>
            </a:r>
          </a:p>
        </p:txBody>
      </p:sp>
      <p:pic>
        <p:nvPicPr>
          <p:cNvPr id="5" name="Picture 4" descr="5b7ca30235a49b613b5f4d922bfc62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一般方程形式:</a:t>
            </a:r>
          </a:p>
        </p:txBody>
      </p:sp>
      <p:pic>
        <p:nvPicPr>
          <p:cNvPr id="7" name="Picture 6" descr="a746c6fd92a92c73be0351e90a713af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160969"/>
            <a:ext cx="2743200" cy="600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0359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对应系数:</a:t>
            </a:r>
          </a:p>
        </p:txBody>
      </p:sp>
      <p:pic>
        <p:nvPicPr>
          <p:cNvPr id="9" name="Picture 8" descr="76128eb00fa7a5546885d8b5275e0eb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493139"/>
            <a:ext cx="2743200" cy="600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36810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,</a:t>
            </a:r>
          </a:p>
        </p:txBody>
      </p:sp>
      <p:pic>
        <p:nvPicPr>
          <p:cNvPr id="11" name="Picture 10" descr="7051da61cd23ba10b32344340a867e2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5825309"/>
            <a:ext cx="2743200" cy="6006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670027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,</a:t>
            </a:r>
          </a:p>
        </p:txBody>
      </p:sp>
      <p:pic>
        <p:nvPicPr>
          <p:cNvPr id="13" name="Picture 12" descr="5b789dab7e3480c8092e61e85f5a672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7157479"/>
            <a:ext cx="2743200" cy="6006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803244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。 交叉项系数</a:t>
            </a:r>
          </a:p>
        </p:txBody>
      </p:sp>
      <p:pic>
        <p:nvPicPr>
          <p:cNvPr id="15" name="Picture 14" descr="a8a9c84a0972b3636b1f80c860b5bbb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0" y="8489650"/>
            <a:ext cx="2743200" cy="6006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200" y="93646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。 线性项系数</a:t>
            </a:r>
          </a:p>
        </p:txBody>
      </p:sp>
      <p:pic>
        <p:nvPicPr>
          <p:cNvPr id="17" name="Picture 16" descr="7c7bbca8f0fe9247337e8d23df317b4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0" y="9821820"/>
            <a:ext cx="2743200" cy="6006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7200" y="1069679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。 常数项</a:t>
            </a:r>
          </a:p>
        </p:txBody>
      </p:sp>
      <p:pic>
        <p:nvPicPr>
          <p:cNvPr id="19" name="Picture 18" descr="490a5e17fb676d320dc57d1fa4e7179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00400" y="11153990"/>
            <a:ext cx="2743200" cy="6006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7200" y="120289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124861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求解中心</a:t>
            </a:r>
          </a:p>
        </p:txBody>
      </p:sp>
      <p:pic>
        <p:nvPicPr>
          <p:cNvPr id="22" name="Picture 21" descr="c0c59d28f1d65fd5d5a11f47aae30ea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0400" y="12943360"/>
            <a:ext cx="2743200" cy="6006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57200" y="1381833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: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实例:椭球面(1)- 方程与中心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求解中心</a:t>
            </a:r>
          </a:p>
        </p:txBody>
      </p:sp>
      <p:pic>
        <p:nvPicPr>
          <p:cNvPr id="5" name="Picture 4" descr="c0c59d28f1d65fd5d5a11f47aae30e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609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因此,中心为</a:t>
            </a:r>
          </a:p>
        </p:txBody>
      </p:sp>
      <p:pic>
        <p:nvPicPr>
          <p:cNvPr id="8" name="Picture 7" descr="d913b3d5fe99f32234a2e2b301b106f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618169"/>
            <a:ext cx="2743200" cy="600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4931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(原点)。 椭球面是有心二次曲面。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实例:椭球面(2) - 径面与图示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对于椭球面</a:t>
            </a:r>
          </a:p>
        </p:txBody>
      </p:sp>
      <p:pic>
        <p:nvPicPr>
          <p:cNvPr id="5" name="Picture 4" descr="a326906802dc7f850baabf4f4363ec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609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偏导数:</a:t>
            </a:r>
          </a:p>
        </p:txBody>
      </p:sp>
      <p:pic>
        <p:nvPicPr>
          <p:cNvPr id="8" name="Picture 7" descr="5e5bd94d0072166d9c5e47cf0632e61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618169"/>
            <a:ext cx="2743200" cy="600650"/>
          </a:xfrm>
          <a:prstGeom prst="rect">
            <a:avLst/>
          </a:prstGeom>
        </p:spPr>
      </p:pic>
      <p:pic>
        <p:nvPicPr>
          <p:cNvPr id="9" name="Picture 8" descr="e50d623c625f51836f47d3e678f9f17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493139"/>
            <a:ext cx="2743200" cy="600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36810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,</a:t>
            </a:r>
          </a:p>
        </p:txBody>
      </p:sp>
      <p:pic>
        <p:nvPicPr>
          <p:cNvPr id="11" name="Picture 10" descr="e145b20c85f2ae4d7e166f301ba1c32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5825309"/>
            <a:ext cx="2743200" cy="6006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670027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径面方程:对于弦方向</a:t>
            </a:r>
          </a:p>
        </p:txBody>
      </p:sp>
      <p:pic>
        <p:nvPicPr>
          <p:cNvPr id="13" name="Picture 12" descr="af7ede57782869fa1ebe2d047824d93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7157479"/>
            <a:ext cx="2743200" cy="6006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803244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,径面方程</a:t>
            </a:r>
          </a:p>
        </p:txBody>
      </p:sp>
      <p:pic>
        <p:nvPicPr>
          <p:cNvPr id="15" name="Picture 14" descr="2906b531fbc71f90a9d3426ec803def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0" y="8489650"/>
            <a:ext cx="2743200" cy="6006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200" y="93646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为: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98218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X frac{2x}{a^{2}}+Y frac{2y}{b^{2}}+Z frac{2z}{c^{2}}=0⇒ frac{Xx}{a^{2}}+ frac{Yy}{b^{2}}+ frac{Zz}{c^{2}}=0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02790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这个平面通过椭球面的中心(0,0,0),符合预期。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实例:椭球面(2) - 径面与图示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对于弦方向</a:t>
            </a:r>
          </a:p>
        </p:txBody>
      </p:sp>
      <p:pic>
        <p:nvPicPr>
          <p:cNvPr id="5" name="Picture 4" descr="af7ede57782869fa1ebe2d047824d9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,径面方程为: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609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frac{Xx}{a^{2}}+ frac{Yy}{b^{2}}+ frac{Zz}{c^{2}}=0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181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这个平面通过椭球面的中心(0,0,0),符合预期。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753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caption{径面(例:</a:t>
            </a:r>
          </a:p>
        </p:txBody>
      </p:sp>
      <p:pic>
        <p:nvPicPr>
          <p:cNvPr id="10" name="Picture 9" descr="e11729b0b65ecade3fc272548a3883f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4532570"/>
            <a:ext cx="2743200" cy="600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4075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for d=(1,0,0)), 中心(0,0,0)}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实例:抛物面(1)- 方程与中心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考虑抛物面方程:</a:t>
            </a:r>
          </a:p>
        </p:txBody>
      </p:sp>
      <p:pic>
        <p:nvPicPr>
          <p:cNvPr id="5" name="Picture 4" descr="1adcc7c88e7492b6c6aa066fe8125bb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(旋转抛物面)。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609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一般方程形式:</a:t>
            </a:r>
          </a:p>
        </p:txBody>
      </p:sp>
      <p:pic>
        <p:nvPicPr>
          <p:cNvPr id="8" name="Picture 7" descr="e731077e9f5ab4151180f6184e7fcb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618169"/>
            <a:ext cx="2743200" cy="600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4931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对应系数: a11 = 1, a22 = 1,</a:t>
            </a:r>
          </a:p>
        </p:txBody>
      </p:sp>
      <p:pic>
        <p:nvPicPr>
          <p:cNvPr id="10" name="Picture 9" descr="4c203858be8057b2a3b069059c92219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950339"/>
            <a:ext cx="2743200" cy="600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82530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. 交叉项</a:t>
            </a:r>
          </a:p>
        </p:txBody>
      </p:sp>
      <p:pic>
        <p:nvPicPr>
          <p:cNvPr id="12" name="Picture 11" descr="a8a9c84a0972b3636b1f80c860b5bbb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6282509"/>
            <a:ext cx="2743200" cy="6006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715747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.</a:t>
            </a:r>
          </a:p>
        </p:txBody>
      </p:sp>
      <p:pic>
        <p:nvPicPr>
          <p:cNvPr id="14" name="Picture 13" descr="01b0173fbd5ca712e77569c84873bd6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7614679"/>
            <a:ext cx="2743200" cy="6006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7200" y="848965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.</a:t>
            </a:r>
          </a:p>
        </p:txBody>
      </p:sp>
      <p:pic>
        <p:nvPicPr>
          <p:cNvPr id="16" name="Picture 15" descr="0b78314c212856f99fd697699053928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0" y="8946850"/>
            <a:ext cx="2743200" cy="6006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" y="98218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02790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求解中心</a:t>
            </a:r>
          </a:p>
        </p:txBody>
      </p:sp>
      <p:pic>
        <p:nvPicPr>
          <p:cNvPr id="19" name="Picture 18" descr="c0c59d28f1d65fd5d5a11f47aae30ea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0" y="10736220"/>
            <a:ext cx="2743200" cy="6006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7200" y="1161119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: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实例:抛物面(1)- 方程与中心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求解中心</a:t>
            </a:r>
          </a:p>
        </p:txBody>
      </p:sp>
      <p:pic>
        <p:nvPicPr>
          <p:cNvPr id="5" name="Picture 4" descr="c0c59d28f1d65fd5d5a11f47aae30e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609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第三个方程</a:t>
            </a:r>
          </a:p>
        </p:txBody>
      </p:sp>
      <p:pic>
        <p:nvPicPr>
          <p:cNvPr id="8" name="Picture 7" descr="44c9dcd72ecfc4a39fd77f9cab6620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618169"/>
            <a:ext cx="2743200" cy="600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4931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是矛盾的。 因此,方程组无解,抛物面是无心二次曲面。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实例:抛物面(2) -径面方程推导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对于抛物面</a:t>
            </a:r>
          </a:p>
        </p:txBody>
      </p:sp>
      <p:pic>
        <p:nvPicPr>
          <p:cNvPr id="5" name="Picture 4" descr="e731077e9f5ab4151180f6184e7fcb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609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偏导数:</a:t>
            </a:r>
          </a:p>
        </p:txBody>
      </p:sp>
      <p:pic>
        <p:nvPicPr>
          <p:cNvPr id="8" name="Picture 7" descr="04cff58889f7caa5e3fbe4d7affa306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618169"/>
            <a:ext cx="2743200" cy="600650"/>
          </a:xfrm>
          <a:prstGeom prst="rect">
            <a:avLst/>
          </a:prstGeom>
        </p:spPr>
      </p:pic>
      <p:pic>
        <p:nvPicPr>
          <p:cNvPr id="9" name="Picture 8" descr="fb49f1a619d84255142453952ad4074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493139"/>
            <a:ext cx="2743200" cy="600650"/>
          </a:xfrm>
          <a:prstGeom prst="rect">
            <a:avLst/>
          </a:prstGeom>
        </p:spPr>
      </p:pic>
      <p:pic>
        <p:nvPicPr>
          <p:cNvPr id="10" name="Picture 9" descr="293ff65d555e37c8969f90a4137ff6e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5368109"/>
            <a:ext cx="2743200" cy="60065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实例:抛物面(2) -径面方程推导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对于抛物面</a:t>
            </a:r>
          </a:p>
        </p:txBody>
      </p:sp>
      <p:pic>
        <p:nvPicPr>
          <p:cNvPr id="5" name="Picture 4" descr="e731077e9f5ab4151180f6184e7fcb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609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偏导数:</a:t>
            </a:r>
          </a:p>
        </p:txBody>
      </p:sp>
      <p:pic>
        <p:nvPicPr>
          <p:cNvPr id="8" name="Picture 7" descr="04cff58889f7caa5e3fbe4d7affa306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618169"/>
            <a:ext cx="2743200" cy="600650"/>
          </a:xfrm>
          <a:prstGeom prst="rect">
            <a:avLst/>
          </a:prstGeom>
        </p:spPr>
      </p:pic>
      <p:pic>
        <p:nvPicPr>
          <p:cNvPr id="9" name="Picture 8" descr="fb49f1a619d84255142453952ad4074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493139"/>
            <a:ext cx="2743200" cy="600650"/>
          </a:xfrm>
          <a:prstGeom prst="rect">
            <a:avLst/>
          </a:prstGeom>
        </p:spPr>
      </p:pic>
      <p:pic>
        <p:nvPicPr>
          <p:cNvPr id="10" name="Picture 9" descr="293ff65d555e37c8969f90a4137ff6e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5368109"/>
            <a:ext cx="2743200" cy="600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24307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70027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径面方程:对于弦方向</a:t>
            </a:r>
          </a:p>
        </p:txBody>
      </p:sp>
      <p:pic>
        <p:nvPicPr>
          <p:cNvPr id="13" name="Picture 12" descr="af7ede57782869fa1ebe2d047824d93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7157479"/>
            <a:ext cx="2743200" cy="6006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803244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,径面的一般方程为</a:t>
            </a:r>
          </a:p>
        </p:txBody>
      </p:sp>
      <p:pic>
        <p:nvPicPr>
          <p:cNvPr id="15" name="Picture 14" descr="2906b531fbc71f90a9d3426ec803def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0" y="8489650"/>
            <a:ext cx="2743200" cy="6006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200" y="93646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实例:抛物面(2) -径面方程推导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对于抛物面</a:t>
            </a:r>
          </a:p>
        </p:txBody>
      </p:sp>
      <p:pic>
        <p:nvPicPr>
          <p:cNvPr id="5" name="Picture 4" descr="e731077e9f5ab4151180f6184e7fcb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609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偏导数:</a:t>
            </a:r>
          </a:p>
        </p:txBody>
      </p:sp>
      <p:pic>
        <p:nvPicPr>
          <p:cNvPr id="8" name="Picture 7" descr="04cff58889f7caa5e3fbe4d7affa306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618169"/>
            <a:ext cx="2743200" cy="600650"/>
          </a:xfrm>
          <a:prstGeom prst="rect">
            <a:avLst/>
          </a:prstGeom>
        </p:spPr>
      </p:pic>
      <p:pic>
        <p:nvPicPr>
          <p:cNvPr id="9" name="Picture 8" descr="fb49f1a619d84255142453952ad4074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493139"/>
            <a:ext cx="2743200" cy="600650"/>
          </a:xfrm>
          <a:prstGeom prst="rect">
            <a:avLst/>
          </a:prstGeom>
        </p:spPr>
      </p:pic>
      <p:pic>
        <p:nvPicPr>
          <p:cNvPr id="10" name="Picture 9" descr="293ff65d555e37c8969f90a4137ff6e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5368109"/>
            <a:ext cx="2743200" cy="600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24307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70027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径面方程:对于弦方向</a:t>
            </a:r>
          </a:p>
        </p:txBody>
      </p:sp>
      <p:pic>
        <p:nvPicPr>
          <p:cNvPr id="13" name="Picture 12" descr="af7ede57782869fa1ebe2d047824d93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7157479"/>
            <a:ext cx="2743200" cy="6006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803244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,径面的一般方程为</a:t>
            </a:r>
          </a:p>
        </p:txBody>
      </p:sp>
      <p:pic>
        <p:nvPicPr>
          <p:cNvPr id="15" name="Picture 14" descr="2906b531fbc71f90a9d3426ec803def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0" y="8489650"/>
            <a:ext cx="2743200" cy="6006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200" y="93646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。 代入偏导数得:</a:t>
            </a:r>
          </a:p>
        </p:txBody>
      </p:sp>
      <p:pic>
        <p:nvPicPr>
          <p:cNvPr id="17" name="Picture 16" descr="f9a192c931452f4033cb0ffb29a7f36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0" y="9821820"/>
            <a:ext cx="2743200" cy="60065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实例:抛物面(2) -径面方程推导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径面方程:对于弦方向</a:t>
            </a:r>
          </a:p>
        </p:txBody>
      </p:sp>
      <p:pic>
        <p:nvPicPr>
          <p:cNvPr id="5" name="Picture 4" descr="af7ede57782869fa1ebe2d047824d9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,代入偏导数得:</a:t>
            </a:r>
          </a:p>
        </p:txBody>
      </p:sp>
      <p:pic>
        <p:nvPicPr>
          <p:cNvPr id="7" name="Picture 6" descr="f9a192c931452f4033cb0ffb29a7f3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160969"/>
            <a:ext cx="2743200" cy="600650"/>
          </a:xfrm>
          <a:prstGeom prst="rect">
            <a:avLst/>
          </a:prstGeom>
        </p:spPr>
      </p:pic>
      <p:pic>
        <p:nvPicPr>
          <p:cNvPr id="8" name="Picture 7" descr="9f4f2f1fe754432d82fa4888e97686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035939"/>
            <a:ext cx="2743200" cy="600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91090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这就是抛物面</a:t>
            </a:r>
          </a:p>
        </p:txBody>
      </p:sp>
      <p:pic>
        <p:nvPicPr>
          <p:cNvPr id="10" name="Picture 9" descr="1adcc7c88e7492b6c6aa066fe8125bb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5368109"/>
            <a:ext cx="2743200" cy="600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24307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关于方向</a:t>
            </a:r>
          </a:p>
        </p:txBody>
      </p:sp>
      <p:pic>
        <p:nvPicPr>
          <p:cNvPr id="12" name="Picture 11" descr="af7ede57782869fa1ebe2d047824d9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6700279"/>
            <a:ext cx="2743200" cy="6006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757524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的径面方程。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实例:抛物面(3)-特定方向径面(Part 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径面方程:</a:t>
            </a:r>
          </a:p>
        </p:txBody>
      </p:sp>
      <p:pic>
        <p:nvPicPr>
          <p:cNvPr id="5" name="Picture 4" descr="82c070dca64c30b7e0125982562a2b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讨论特定方向</a:t>
            </a:r>
          </a:p>
        </p:txBody>
      </p:sp>
      <p:pic>
        <p:nvPicPr>
          <p:cNvPr id="7" name="Picture 6" descr="af7ede57782869fa1ebe2d047824d9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160969"/>
            <a:ext cx="2743200" cy="600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0359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931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若弦平行于x轴:</a:t>
            </a:r>
          </a:p>
        </p:txBody>
      </p:sp>
      <p:pic>
        <p:nvPicPr>
          <p:cNvPr id="10" name="Picture 9" descr="eab900b146a701fe03b042d896e8ab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950339"/>
            <a:ext cx="2743200" cy="600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82530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(即</a:t>
            </a:r>
          </a:p>
        </p:txBody>
      </p:sp>
      <p:pic>
        <p:nvPicPr>
          <p:cNvPr id="12" name="Picture 11" descr="36663b5c709fe3fe70d4cca07829d28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6282509"/>
            <a:ext cx="2743200" cy="6006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715747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,</a:t>
            </a:r>
          </a:p>
        </p:txBody>
      </p:sp>
      <p:pic>
        <p:nvPicPr>
          <p:cNvPr id="14" name="Picture 13" descr="c884675bff1da1c224acea73ed94e22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7614679"/>
            <a:ext cx="2743200" cy="6006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7200" y="848965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,</a:t>
            </a:r>
          </a:p>
        </p:txBody>
      </p:sp>
      <p:pic>
        <p:nvPicPr>
          <p:cNvPr id="16" name="Picture 15" descr="25730e1ced70c09c49e3a69e5c10c0f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0" y="8946850"/>
            <a:ext cx="2743200" cy="60065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实例:抛物面(3)-特定方向径面(Part 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径面方程:</a:t>
            </a:r>
          </a:p>
        </p:txBody>
      </p:sp>
      <p:pic>
        <p:nvPicPr>
          <p:cNvPr id="5" name="Picture 4" descr="82c070dca64c30b7e0125982562a2b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讨论特定方向</a:t>
            </a:r>
          </a:p>
        </p:txBody>
      </p:sp>
      <p:pic>
        <p:nvPicPr>
          <p:cNvPr id="7" name="Picture 6" descr="af7ede57782869fa1ebe2d047824d9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160969"/>
            <a:ext cx="2743200" cy="600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0359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931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若弦平行于x轴:</a:t>
            </a:r>
          </a:p>
        </p:txBody>
      </p:sp>
      <p:pic>
        <p:nvPicPr>
          <p:cNvPr id="10" name="Picture 9" descr="eab900b146a701fe03b042d896e8ab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950339"/>
            <a:ext cx="2743200" cy="600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82530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(即</a:t>
            </a:r>
          </a:p>
        </p:txBody>
      </p:sp>
      <p:pic>
        <p:nvPicPr>
          <p:cNvPr id="12" name="Picture 11" descr="36663b5c709fe3fe70d4cca07829d28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6282509"/>
            <a:ext cx="2743200" cy="6006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715747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,</a:t>
            </a:r>
          </a:p>
        </p:txBody>
      </p:sp>
      <p:pic>
        <p:nvPicPr>
          <p:cNvPr id="14" name="Picture 13" descr="c884675bff1da1c224acea73ed94e22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7614679"/>
            <a:ext cx="2743200" cy="6006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7200" y="848965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,</a:t>
            </a:r>
          </a:p>
        </p:txBody>
      </p:sp>
      <p:pic>
        <p:nvPicPr>
          <p:cNvPr id="16" name="Picture 15" descr="25730e1ced70c09c49e3a69e5c10c0f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0" y="8946850"/>
            <a:ext cx="2743200" cy="6006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" y="98218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则径面方程为:</a:t>
            </a:r>
          </a:p>
        </p:txBody>
      </p:sp>
      <p:pic>
        <p:nvPicPr>
          <p:cNvPr id="18" name="Picture 17" descr="bc9c60ba796add42130256506ac47f7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0" y="10279020"/>
            <a:ext cx="2743200" cy="6006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1115399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. 这是 yz-平面。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实例:抛物面(3)-特定方向径面(Part 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径面方程:</a:t>
            </a:r>
          </a:p>
        </p:txBody>
      </p:sp>
      <p:pic>
        <p:nvPicPr>
          <p:cNvPr id="5" name="Picture 4" descr="82c070dca64c30b7e0125982562a2b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讨论特定方向</a:t>
            </a:r>
          </a:p>
        </p:txBody>
      </p:sp>
      <p:pic>
        <p:nvPicPr>
          <p:cNvPr id="7" name="Picture 6" descr="af7ede57782869fa1ebe2d047824d9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160969"/>
            <a:ext cx="2743200" cy="600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0359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931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若弦平行于x轴:</a:t>
            </a:r>
          </a:p>
        </p:txBody>
      </p:sp>
      <p:pic>
        <p:nvPicPr>
          <p:cNvPr id="10" name="Picture 9" descr="eab900b146a701fe03b042d896e8ab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950339"/>
            <a:ext cx="2743200" cy="600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82530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... 这是 yz-平面。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28250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若弦平行于y轴:</a:t>
            </a:r>
          </a:p>
        </p:txBody>
      </p:sp>
      <p:pic>
        <p:nvPicPr>
          <p:cNvPr id="13" name="Picture 12" descr="c86a68e0bfe008d3927066721265db7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6739709"/>
            <a:ext cx="2743200" cy="6006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761467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(即</a:t>
            </a:r>
          </a:p>
        </p:txBody>
      </p:sp>
      <p:pic>
        <p:nvPicPr>
          <p:cNvPr id="15" name="Picture 14" descr="1474f756189342855108a91ce554137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8071879"/>
            <a:ext cx="2743200" cy="6006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200" y="894685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,</a:t>
            </a:r>
          </a:p>
        </p:txBody>
      </p:sp>
      <p:pic>
        <p:nvPicPr>
          <p:cNvPr id="17" name="Picture 16" descr="70834fa19d2b7e7068b7403f87acf57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0" y="9404050"/>
            <a:ext cx="2743200" cy="6006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7200" y="102790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,</a:t>
            </a:r>
          </a:p>
        </p:txBody>
      </p:sp>
      <p:pic>
        <p:nvPicPr>
          <p:cNvPr id="19" name="Picture 18" descr="25730e1ced70c09c49e3a69e5c10c0f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0" y="10736220"/>
            <a:ext cx="2743200" cy="60065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实例:抛物面(3)-特定方向径面(Part 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径面方程:</a:t>
            </a:r>
          </a:p>
        </p:txBody>
      </p:sp>
      <p:pic>
        <p:nvPicPr>
          <p:cNvPr id="5" name="Picture 4" descr="82c070dca64c30b7e0125982562a2b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讨论特定方向</a:t>
            </a:r>
          </a:p>
        </p:txBody>
      </p:sp>
      <p:pic>
        <p:nvPicPr>
          <p:cNvPr id="7" name="Picture 6" descr="af7ede57782869fa1ebe2d047824d9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160969"/>
            <a:ext cx="2743200" cy="600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0359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931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若弦平行于x轴:</a:t>
            </a:r>
          </a:p>
        </p:txBody>
      </p:sp>
      <p:pic>
        <p:nvPicPr>
          <p:cNvPr id="10" name="Picture 9" descr="eab900b146a701fe03b042d896e8ab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950339"/>
            <a:ext cx="2743200" cy="600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82530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... 这是 yz-平面。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28250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若弦平行于y轴:</a:t>
            </a:r>
          </a:p>
        </p:txBody>
      </p:sp>
      <p:pic>
        <p:nvPicPr>
          <p:cNvPr id="13" name="Picture 12" descr="c86a68e0bfe008d3927066721265db7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6739709"/>
            <a:ext cx="2743200" cy="6006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761467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(即</a:t>
            </a:r>
          </a:p>
        </p:txBody>
      </p:sp>
      <p:pic>
        <p:nvPicPr>
          <p:cNvPr id="15" name="Picture 14" descr="1474f756189342855108a91ce554137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8071879"/>
            <a:ext cx="2743200" cy="6006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200" y="894685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,</a:t>
            </a:r>
          </a:p>
        </p:txBody>
      </p:sp>
      <p:pic>
        <p:nvPicPr>
          <p:cNvPr id="17" name="Picture 16" descr="70834fa19d2b7e7068b7403f87acf57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0" y="9404050"/>
            <a:ext cx="2743200" cy="6006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7200" y="102790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,</a:t>
            </a:r>
          </a:p>
        </p:txBody>
      </p:sp>
      <p:pic>
        <p:nvPicPr>
          <p:cNvPr id="19" name="Picture 18" descr="25730e1ced70c09c49e3a69e5c10c0f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0" y="10736220"/>
            <a:ext cx="2743200" cy="6006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7200" y="1161119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则径面方程为:</a:t>
            </a:r>
          </a:p>
        </p:txBody>
      </p:sp>
      <p:pic>
        <p:nvPicPr>
          <p:cNvPr id="21" name="Picture 20" descr="e3dade452e505be50a837f27489e2c7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00400" y="12068390"/>
            <a:ext cx="2743200" cy="6006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57200" y="129433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这是 xz-平面。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实例:抛物面(4) - 特定方向径面(Part II)与性质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径面方程:</a:t>
            </a:r>
          </a:p>
        </p:txBody>
      </p:sp>
      <p:pic>
        <p:nvPicPr>
          <p:cNvPr id="5" name="Picture 4" descr="82c070dca64c30b7e0125982562a2b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讨论特定方向</a:t>
            </a:r>
          </a:p>
        </p:txBody>
      </p:sp>
      <p:pic>
        <p:nvPicPr>
          <p:cNvPr id="7" name="Picture 6" descr="af7ede57782869fa1ebe2d047824d9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160969"/>
            <a:ext cx="2743200" cy="600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0359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(续):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931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若弦平行于z轴(抛物面的轴):</a:t>
            </a:r>
          </a:p>
        </p:txBody>
      </p:sp>
      <p:pic>
        <p:nvPicPr>
          <p:cNvPr id="10" name="Picture 9" descr="031d62320dadae1b2c8f3275f28395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950339"/>
            <a:ext cx="2743200" cy="600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82530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(即</a:t>
            </a:r>
          </a:p>
        </p:txBody>
      </p:sp>
      <p:pic>
        <p:nvPicPr>
          <p:cNvPr id="12" name="Picture 11" descr="1474f756189342855108a91ce554137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6282509"/>
            <a:ext cx="2743200" cy="6006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715747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,</a:t>
            </a:r>
          </a:p>
        </p:txBody>
      </p:sp>
      <p:pic>
        <p:nvPicPr>
          <p:cNvPr id="14" name="Picture 13" descr="c884675bff1da1c224acea73ed94e22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7614679"/>
            <a:ext cx="2743200" cy="6006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7200" y="848965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,</a:t>
            </a:r>
          </a:p>
        </p:txBody>
      </p:sp>
      <p:pic>
        <p:nvPicPr>
          <p:cNvPr id="16" name="Picture 15" descr="1c31b81cfff178ee2e151382c48c2fc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0" y="8946850"/>
            <a:ext cx="2743200" cy="60065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实例:抛物面(4) - 特定方向径面(Part II)与性质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讨论特定方向</a:t>
            </a:r>
          </a:p>
        </p:txBody>
      </p:sp>
      <p:pic>
        <p:nvPicPr>
          <p:cNvPr id="5" name="Picture 4" descr="af7ede57782869fa1ebe2d047824d9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(续):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609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若弦平行于z轴(抛物面的轴):</a:t>
            </a:r>
          </a:p>
        </p:txBody>
      </p:sp>
      <p:pic>
        <p:nvPicPr>
          <p:cNvPr id="8" name="Picture 7" descr="031d62320dadae1b2c8f3275f28395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618169"/>
            <a:ext cx="2743200" cy="600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4931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(即</a:t>
            </a:r>
          </a:p>
        </p:txBody>
      </p:sp>
      <p:pic>
        <p:nvPicPr>
          <p:cNvPr id="10" name="Picture 9" descr="3f388918ab1c2ffa29111e95251fbc7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950339"/>
            <a:ext cx="2743200" cy="600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82530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则径面方程为:</a:t>
            </a:r>
          </a:p>
        </p:txBody>
      </p:sp>
      <p:pic>
        <p:nvPicPr>
          <p:cNvPr id="12" name="Picture 11" descr="d9426e6af91781043af8b6e83c4f56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6282509"/>
            <a:ext cx="2743200" cy="6006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715747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. 这是一个矛盾的等式。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实例:抛物面(4)-特定方向径面(Part II)与性质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讨论特定方向</a:t>
            </a:r>
          </a:p>
        </p:txBody>
      </p:sp>
      <p:pic>
        <p:nvPicPr>
          <p:cNvPr id="5" name="Picture 4" descr="af7ede57782869fa1ebe2d047824d9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(续):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609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若弦平行于z轴(抛物面的轴):</a:t>
            </a:r>
          </a:p>
        </p:txBody>
      </p:sp>
      <p:pic>
        <p:nvPicPr>
          <p:cNvPr id="8" name="Picture 7" descr="031d62320dadae1b2c8f3275f28395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618169"/>
            <a:ext cx="2743200" cy="600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4931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(即</a:t>
            </a:r>
          </a:p>
        </p:txBody>
      </p:sp>
      <p:pic>
        <p:nvPicPr>
          <p:cNvPr id="10" name="Picture 9" descr="3f388918ab1c2ffa29111e95251fbc7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950339"/>
            <a:ext cx="2743200" cy="600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82530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则径面方程为:</a:t>
            </a:r>
          </a:p>
        </p:txBody>
      </p:sp>
      <p:pic>
        <p:nvPicPr>
          <p:cNvPr id="12" name="Picture 11" descr="d9426e6af91781043af8b6e83c4f56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6282509"/>
            <a:ext cx="2743200" cy="6006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715747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. 这是一个矛盾的等式。 这意味着不存在与抛物面轴方向共轭的径面。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实例:抛物面(4) - 特定方向径面(Part II)与性质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讨论特定方向</a:t>
            </a:r>
          </a:p>
        </p:txBody>
      </p:sp>
      <p:pic>
        <p:nvPicPr>
          <p:cNvPr id="5" name="Picture 4" descr="af7ede57782869fa1ebe2d047824d9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(续):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609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若弦平行于z轴(抛物面的轴):</a:t>
            </a:r>
          </a:p>
        </p:txBody>
      </p:sp>
      <p:pic>
        <p:nvPicPr>
          <p:cNvPr id="8" name="Picture 7" descr="031d62320dadae1b2c8f3275f28395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618169"/>
            <a:ext cx="2743200" cy="600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4931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... 这意味着不存在与抛物面轴方向共轭的径面。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9503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一般性质:对于抛物面</a:t>
            </a:r>
          </a:p>
        </p:txBody>
      </p:sp>
      <p:pic>
        <p:nvPicPr>
          <p:cNvPr id="11" name="Picture 10" descr="1adcc7c88e7492b6c6aa066fe8125bb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5407539"/>
            <a:ext cx="2743200" cy="6006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628250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,其径面方程为</a:t>
            </a:r>
          </a:p>
        </p:txBody>
      </p:sp>
      <p:pic>
        <p:nvPicPr>
          <p:cNvPr id="13" name="Picture 12" descr="454833f1041e897f2a11690cf7aee4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6739709"/>
            <a:ext cx="2743200" cy="6006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761467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。 只要 X, Y不全为零,这个方程就代表一个平行于z轴的平面。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椭球面及其中心</a:t>
            </a:r>
          </a:p>
        </p:txBody>
      </p:sp>
      <p:pic>
        <p:nvPicPr>
          <p:cNvPr id="4" name="Picture 3" descr="ellipsoid_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3657600" cy="38398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0" y="13716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椭球面是一个典型的二次曲面，具有唯一的中心点。</a:t>
            </a:r>
            <a:br/>
            <a:br/>
            <a:r>
              <a:t>中心点具有以下性质：</a:t>
            </a:r>
            <a:br/>
            <a:r>
              <a:t>• 是曲面的对称中心</a:t>
            </a:r>
            <a:br/>
            <a:r>
              <a:t>• 所有通过中心的直线与曲面相交于对称的两点</a:t>
            </a:r>
            <a:br/>
            <a:r>
              <a:t>• 中心坐标满足中心方程组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双曲面及其中心</a:t>
            </a:r>
          </a:p>
        </p:txBody>
      </p:sp>
      <p:pic>
        <p:nvPicPr>
          <p:cNvPr id="4" name="Picture 3" descr="hyperboloid_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3657600" cy="38570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0" y="13716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双曲面是另一种重要的二次曲面，也具有唯一的中心点。</a:t>
            </a:r>
            <a:br/>
            <a:br/>
            <a:r>
              <a:t>双曲面的特点：</a:t>
            </a:r>
            <a:br/>
            <a:r>
              <a:t>• 具有两个分离的叶</a:t>
            </a:r>
            <a:br/>
            <a:r>
              <a:t>• 中心位于两个叶之间</a:t>
            </a:r>
            <a:br/>
            <a:r>
              <a:t>• 通过中心的平面与曲面相交形成双曲线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抛物面及其顶点</a:t>
            </a:r>
          </a:p>
        </p:txBody>
      </p:sp>
      <p:pic>
        <p:nvPicPr>
          <p:cNvPr id="4" name="Picture 3" descr="paraboloid_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3657600" cy="38398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0" y="13716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抛物面是一种特殊的二次曲面，具有顶点而不是中心。</a:t>
            </a:r>
            <a:br/>
            <a:br/>
            <a:r>
              <a:t>抛物面的特点：</a:t>
            </a:r>
            <a:br/>
            <a:r>
              <a:t>• 没有中心点</a:t>
            </a:r>
            <a:br/>
            <a:r>
              <a:t>• 具有唯一的顶点</a:t>
            </a:r>
            <a:br/>
            <a:r>
              <a:t>• 通过顶点的平面与曲面相交形成抛物线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